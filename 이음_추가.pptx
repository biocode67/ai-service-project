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  <p:sldId id="266" r:id="rId10"/>
    <p:sldId id="267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552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  <Relationship Id="rId16" Type="http://schemas.openxmlformats.org/officeDocument/2006/relationships/slide" Target="slides/slide10.xml"/>
  <Relationship Id="rId17" Type="http://schemas.openxmlformats.org/officeDocument/2006/relationships/slide" Target="slides/slide11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12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입력하면,</a:t>
            </a:r>
            <a:endParaRPr lang="en-US" sz="4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54304" y="215900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8800"/>
              </a:lnSpc>
              <a:buNone/>
            </a:pPr>
            <a:r>
              <a:rPr lang="en-US" sz="8000" b="1" i="0" kern="0" spc="-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이음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905000" y="3536950"/>
            <a:ext cx="8382000" cy="800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2260600" y="3705870"/>
            <a:ext cx="437507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어떻게 관리해요?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582150" y="3632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D1D1F"/>
          </a:solidFill>
          <a:ln/>
        </p:spPr>
      </p:sp>
      <p:pic>
        <p:nvPicPr>
          <p:cNvPr id="7" name="Image 0" descr="보내기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9950" y="3810000"/>
            <a:ext cx="254000" cy="254000"/>
          </a:xfrm>
          <a:prstGeom prst="rect">
            <a:avLst/>
          </a:prstGeom>
        </p:spPr>
      </p:pic>
      <p:pic>
        <p:nvPicPr>
          <p:cNvPr id="8" name="Image 1" descr="다음 장으로 이어지는 선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439400" y="3860800"/>
            <a:ext cx="17526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3607" y="282491"/>
            <a:ext cx="10724786" cy="60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3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규정에서 답변 근거를 수집합니다.</a:t>
            </a:r>
            <a:endParaRPr lang="en-US" sz="4200" dirty="0"/>
          </a:p>
        </p:txBody>
      </p:sp>
      <p:pic>
        <p:nvPicPr>
          <p:cNvPr id="3" name="Image 0" descr="앞 장에서 이어지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860800"/>
            <a:ext cx="2273300" cy="152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/>
        </p:spPr>
      </p:sp>
      <p:pic>
        <p:nvPicPr>
          <p:cNvPr id="5" name="Image 1" descr="KOSHA GUIDE 개인보호구의 사용 및 관리에 관한 기술지원규정 표지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</p:spPr>
      </p:pic>
      <p:pic>
        <p:nvPicPr>
          <p:cNvPr id="6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26050" y="3860800"/>
            <a:ext cx="635000" cy="152400"/>
          </a:xfrm>
          <a:prstGeom prst="rect">
            <a:avLst/>
          </a:prstGeom>
        </p:spPr>
      </p:pic>
      <p:pic>
        <p:nvPicPr>
          <p:cNvPr id="7" name="Image 3" descr="답변 아래에 표시되는 출처 카드: 기술지원규정 5페이지와 23페이지 원문"/>
          <p:cNvPicPr>
            <a:picLocks noChangeAspect="1"/>
          </p:cNvPicPr>
          <p:nvPr/>
        </p:nvPicPr>
        <p:blipFill>
          <a:blip r:embed="rId6"/>
          <a:srcRect l="-156" r="-156"/>
          <a:stretch/>
        </p:blipFill>
        <p:spPr>
          <a:xfrm>
            <a:off x="6000750" y="2038350"/>
            <a:ext cx="3797300" cy="3797300"/>
          </a:xfrm>
          <a:prstGeom prst="rect">
            <a:avLst/>
          </a:prstGeom>
        </p:spPr>
      </p:pic>
      <p:pic>
        <p:nvPicPr>
          <p:cNvPr id="8" name="Image 4" descr="다음 장으로 이어지는 선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50450" y="3860800"/>
            <a:ext cx="22415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수집 정도에 따라 답변합니다.</a:t>
            </a:r>
            <a:endParaRPr lang="en-US" sz="4200" dirty="0"/>
          </a:p>
        </p:txBody>
      </p:sp>
      <p:pic>
        <p:nvPicPr>
          <p:cNvPr id="3" name="Image 0" descr="하나의 선이 세 갈래로 나뉘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413000"/>
            <a:ext cx="2667000" cy="304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8473" y="22733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질문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768473" y="26924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모범 답변 출력</a:t>
            </a:r>
            <a:endParaRPr lang="en-US" sz="1500" dirty="0"/>
          </a:p>
        </p:txBody>
      </p:sp>
      <p:pic>
        <p:nvPicPr>
          <p:cNvPr id="6" name="Image 1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2540000"/>
            <a:ext cx="635000" cy="15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10200" y="1930400"/>
            <a:ext cx="4953000" cy="1374130"/>
          </a:xfrm>
          <a:prstGeom prst="roundRect">
            <a:avLst>
              <a:gd name="adj" fmla="val 11091"/>
            </a:avLst>
          </a:prstGeom>
          <a:solidFill>
            <a:srgbClr val="FFFFFF"/>
          </a:solidFill>
          <a:ln/>
        </p:spPr>
      </p:sp>
      <p:sp>
        <p:nvSpPr>
          <p:cNvPr id="8" name="Text 4"/>
          <p:cNvSpPr/>
          <p:nvPr/>
        </p:nvSpPr>
        <p:spPr>
          <a:xfrm>
            <a:off x="5588000" y="20828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588000" y="2352030"/>
            <a:ext cx="47353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늘 사용할 수 있도록 관리하고 깨끗하게 유지해야 합니다. 사용하지 않을 때는 이상이 없는지 검사하고, 오염되지 않도록 건조하고 깨끗한 곳에 보관해야 합니다.</a:t>
            </a:r>
            <a:endParaRPr lang="en-US" sz="1400" dirty="0"/>
          </a:p>
        </p:txBody>
      </p:sp>
      <p:pic>
        <p:nvPicPr>
          <p:cNvPr id="10" name="Image 2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2540000"/>
            <a:ext cx="1676400" cy="152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68473" y="35941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밖 질문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2768473" y="40132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생성</a:t>
            </a:r>
            <a:endParaRPr lang="en-US" sz="1500" dirty="0"/>
          </a:p>
        </p:txBody>
      </p:sp>
      <p:pic>
        <p:nvPicPr>
          <p:cNvPr id="13" name="Image 3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3860800"/>
            <a:ext cx="635000" cy="1524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10200" y="3505200"/>
            <a:ext cx="4953000" cy="840730"/>
          </a:xfrm>
          <a:prstGeom prst="roundRect">
            <a:avLst>
              <a:gd name="adj" fmla="val 18127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/>
          <p:nvPr/>
        </p:nvSpPr>
        <p:spPr>
          <a:xfrm>
            <a:off x="5588000" y="36576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588000" y="3926830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근거로 답변 생성</a:t>
            </a:r>
            <a:endParaRPr lang="en-US" sz="1400" dirty="0"/>
          </a:p>
        </p:txBody>
      </p:sp>
      <p:pic>
        <p:nvPicPr>
          <p:cNvPr id="17" name="Image 4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3860800"/>
            <a:ext cx="1676400" cy="152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667000" y="4756150"/>
            <a:ext cx="1955800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근거 부족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2768473" y="517525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점심 메뉴 추천</a:t>
            </a:r>
            <a:endParaRPr lang="en-US" sz="1500" dirty="0"/>
          </a:p>
        </p:txBody>
      </p:sp>
      <p:pic>
        <p:nvPicPr>
          <p:cNvPr id="20" name="Image 5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5022850"/>
            <a:ext cx="635000" cy="1524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410200" y="4546600"/>
            <a:ext cx="4953000" cy="1107430"/>
          </a:xfrm>
          <a:prstGeom prst="roundRect">
            <a:avLst>
              <a:gd name="adj" fmla="val 13762"/>
            </a:avLst>
          </a:prstGeom>
          <a:solidFill>
            <a:srgbClr val="FFFFFF"/>
          </a:solidFill>
          <a:ln/>
        </p:spPr>
      </p:sp>
      <p:sp>
        <p:nvSpPr>
          <p:cNvPr id="22" name="Text 14"/>
          <p:cNvSpPr/>
          <p:nvPr/>
        </p:nvSpPr>
        <p:spPr>
          <a:xfrm>
            <a:off x="5588000" y="46990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88000" y="4968230"/>
            <a:ext cx="473532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개인보호구의 사용 및 관리에 관한 기술지원규정에서 관련 내용을 찾지 못했습니다.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답변을 단어로, 단어를 수어로.</a:t>
            </a:r>
            <a:endParaRPr lang="en-US" sz="4200" dirty="0"/>
          </a:p>
        </p:txBody>
      </p:sp>
      <p:pic>
        <p:nvPicPr>
          <p:cNvPr id="3" name="Image 0" descr="두 갈래의 답변이 하나로 모이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40000"/>
            <a:ext cx="2222500" cy="152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288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253929" y="3327400"/>
            <a:ext cx="366812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84240" y="332740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441676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관리하고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62724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깨끗하게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377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유지해야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2881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53929" y="371599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847802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05238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62674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검사하고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83722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오염되지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2123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건조하고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93170" y="410458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깨끗한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50606" y="410458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44480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보관해야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055495" y="4699000"/>
            <a:ext cx="5363210" cy="61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흰색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있는 단어</a:t>
            </a:r>
            <a:endParaRPr lang="en-US" sz="1600" dirty="0"/>
          </a:p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C7C7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없는 단어</a:t>
            </a:r>
            <a:endParaRPr lang="en-US" sz="1600" dirty="0"/>
          </a:p>
        </p:txBody>
      </p:sp>
      <p:pic>
        <p:nvPicPr>
          <p:cNvPr id="21" name="Image 1" descr="안전모를 쓴 3D 아바타가 답변을 수어로 표현하는 움직이는 이미지"/>
          <p:cNvPicPr>
            <a:picLocks noChangeAspect="1"/>
          </p:cNvPicPr>
          <p:nvPr/>
        </p:nvPicPr>
        <p:blipFill>
          <a:blip r:embed="rId4"/>
          <a:srcRect l="23" r="23"/>
          <a:stretch/>
        </p:blipFill>
        <p:spPr>
          <a:xfrm>
            <a:off x="7823200" y="2286000"/>
            <a:ext cx="2857500" cy="2889250"/>
          </a:xfrm>
          <a:prstGeom prst="roundRect">
            <a:avLst>
              <a:gd name="adj" fmla="val 5333"/>
            </a:avLst>
          </a:prstGeom>
        </p:spPr>
      </p:pic>
      <p:pic>
        <p:nvPicPr>
          <p:cNvPr id="22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64400" y="3860800"/>
            <a:ext cx="6350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459" y="328235"/>
            <a:ext cx="11019081" cy="620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2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6F794B83-CEDF-4483-BD8D-8D77CF8FBB0A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산업안전 안내를 위한 자료 출처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5533C4C0-CCA6-45E9-B8D2-014EDFA197A3}"/>
              </a:ext>
            </a:extLst>
          </p:cNvPr>
          <p:cNvGraphicFramePr/>
          <p:nvPr/>
        </p:nvGraphicFramePr>
        <p:xfrm>
          <a:off x="812768" y="1952625"/>
          <a:ext cx="10566463" cy="3762375"/>
        </p:xfrm>
        <a:graphic>
          <a:graphicData uri="http://schemas.openxmlformats.org/drawingml/2006/table">
            <a:tbl>
              <a:tblPr/>
              <a:tblGrid>
                <a:gridCol w="2476500"/>
                <a:gridCol w="3952875"/>
                <a:gridCol w="4137088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자료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출처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참고·확보한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활용 목적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안전보건공단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KOSHA GUIDE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안전작업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안내 문장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선정 근거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AI Hub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수어 영상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재난 안전 수어 데이터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대응 글로스·키포인트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검색 및 연결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한국수어사전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단어별 수어 설명·영상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관련 단어의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의미와 수어 표현 확인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말뭉치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한국수어–한국어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병렬 말뭉치 2025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 관련 표현이 포함된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대화 영상·번역 자료 선별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86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2717780"/>
              </p:ext>
            </p:extLst>
          </p:nvPr>
        </p:nvGraphicFramePr>
        <p:xfrm>
          <a:off x="819055" y="1528191"/>
          <a:ext cx="10566463" cy="4635246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선정</a:t>
                      </a:r>
                      <a:r>
                        <a:rPr sz="1725" b="1" dirty="0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 </a:t>
                      </a:r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확보한 대응 표현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추가 확보·검수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보호구를 깨끗하게 관리하세요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깨끗하다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사용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장비 추가 확보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/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'사용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과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관리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의 의미 차이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물체가 튈 수 있는 작업에서는 보안경을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흩어지다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보안경 표현 추가 확보 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물체가 튀는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쓰러지는 물체에 발을 다칠 위험이 있으면 안전화를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발가락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상처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조심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안전화의 의미 차이 및 조건 표현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소음이 큰 작업장에서는 귀마개를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큰소리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귀마개 표현 추가 확보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소음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높은 곳에서 작업할 때는 안전대를 사용하세요.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높은 곳의 의미 차이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 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/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+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가 </a:t>
                      </a:r>
                      <a:r>
                        <a:rPr lang="ko-KR" altLang="en-US" sz="1580" b="1" dirty="0" err="1" smtClean="0">
                          <a:latin typeface="Noto Sans KR (본문)"/>
                        </a:rPr>
                        <a:t>안전대를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전달하는지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유해한 분진이 발생하는 작업에서는 호흡용 보호구를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해하다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마스크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쓰다</a:t>
                      </a:r>
                      <a:endParaRPr sz="1580" b="1" dirty="0">
                        <a:solidFill>
                          <a:srgbClr val="E5E5EA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분진의 의미 차이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발생 의미의 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 표현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124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182253"/>
              </p:ext>
            </p:extLst>
          </p:nvPr>
        </p:nvGraphicFramePr>
        <p:xfrm>
          <a:off x="812768" y="1473327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문장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연결·의미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검수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363F19A0-F91D-4616-A42B-42601EFAF285}"/>
              </a:ext>
            </a:extLst>
          </p:cNvPr>
          <p:cNvSpPr>
            <a:spLocks noGrp="1"/>
          </p:cNvSpPr>
          <p:nvPr/>
        </p:nvSpPr>
        <p:spPr>
          <a:xfrm>
            <a:off x="806481" y="5508117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E5E5EA"/>
                </a:solidFill>
              </a:defRPr>
            </a:defPPr>
          </a:lstStyle>
          <a:p>
            <a:pPr>
              <a:defRPr sz="1575" b="0">
                <a:solidFill>
                  <a:srgbClr val="E5E5EA"/>
                </a:solidFill>
              </a:defRPr>
            </a:pPr>
            <a:r>
              <a:rPr sz="1575" b="0">
                <a:solidFill>
                  <a:srgbClr val="E5E5EA"/>
                </a:solidFill>
              </a:rPr>
              <a:t>구현팀 전달: 문장별 키포인트 폴더 + 동작 순서·파일 경로를 담은 sentence.json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B99275F7-AB87-452B-A481-08D51A8EF21E}"/>
              </a:ext>
            </a:extLst>
          </p:cNvPr>
          <p:cNvSpPr>
            <a:spLocks noGrp="1"/>
          </p:cNvSpPr>
          <p:nvPr/>
        </p:nvSpPr>
        <p:spPr>
          <a:xfrm>
            <a:off x="806481" y="5889117"/>
            <a:ext cx="10572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A1A1A6"/>
                </a:solidFill>
              </a:defRPr>
            </a:defPPr>
          </a:lstStyle>
          <a:p>
            <a:pPr>
              <a:defRPr sz="1350" b="0">
                <a:solidFill>
                  <a:srgbClr val="A1A1A6"/>
                </a:solidFill>
              </a:defRPr>
            </a:pPr>
            <a:r>
              <a:rPr sz="1350" b="0">
                <a:solidFill>
                  <a:srgbClr val="A1A1A6"/>
                </a:solidFill>
              </a:rPr>
              <a:t>확보한 표현 기준의 구현 테스트 자료이며, 완성된 수어 번역은 아님.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>
                <a:solidFill>
                  <a:srgbClr val="FFFFFF"/>
                </a:solidFill>
              </a:rPr>
              <a:t>수어 동작을 키포인트로 인식합니다.</a:t>
            </a:r>
            <a:endParaRPr sz="3900" b="1" dirty="0">
              <a:solidFill>
                <a:srgbClr val="FFFFFF"/>
              </a:solidFill>
            </a:endParaRPr>
          </a:p>
        </p:txBody>
      </p:sp>
      <p:sp>
        <p:nvSpPr>
          <p:cNvPr id="11" name="부제"/>
          <p:cNvSpPr txBox="1"/>
          <p:nvPr/>
        </p:nvSpPr>
        <p:spPr>
          <a:xfrm>
            <a:off x="812902" y="1371600"/>
            <a:ext cx="10571378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600" b="0" dirty="0">
                <a:solidFill>
                  <a:srgbClr val="E5E5EA"/>
                </a:solidFill>
              </a:rPr>
              <a:t>수어 영상에서 몸·손·얼굴의 위치를 점(키포인트)으로 읽어, 아바타가 따라 할 동작으로 바꿉니다.</a:t>
            </a:r>
          </a:p>
        </p:txBody>
      </p:sp>
      <p:sp>
        <p:nvSpPr>
          <p:cNvPr id="12" name="단계 01 카드"/>
          <p:cNvSpPr/>
          <p:nvPr/>
        </p:nvSpPr>
        <p:spPr>
          <a:xfrm>
            <a:off x="812902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01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수어 영상 입력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AI Hub·국립국어원 수어 영상에서 단어(글로스)별 동작 구간을 가져옵니다.</a:t>
            </a:r>
          </a:p>
        </p:txBody>
      </p:sp>
      <p:sp>
        <p:nvSpPr>
          <p:cNvPr id="13" name="단계 화살표 1"/>
          <p:cNvSpPr txBox="1"/>
          <p:nvPr/>
        </p:nvSpPr>
        <p:spPr>
          <a:xfrm>
            <a:off x="3190342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4" name="단계 02 카드"/>
          <p:cNvSpPr/>
          <p:nvPr/>
        </p:nvSpPr>
        <p:spPr>
          <a:xfrm>
            <a:off x="3544214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02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동작 인식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프레임마다 몸 25점, 양손 21점씩, 얼굴 70점의 좌표를 추출합니다.</a:t>
            </a:r>
          </a:p>
        </p:txBody>
      </p:sp>
      <p:sp>
        <p:nvSpPr>
          <p:cNvPr id="15" name="단계 화살표 2"/>
          <p:cNvSpPr txBox="1"/>
          <p:nvPr/>
        </p:nvSpPr>
        <p:spPr>
          <a:xfrm>
            <a:off x="5921654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6" name="단계 03 카드"/>
          <p:cNvSpPr/>
          <p:nvPr/>
        </p:nvSpPr>
        <p:spPr>
          <a:xfrm>
            <a:off x="6275527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03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문장 순서로 연결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sentence.json의 순서(order)대로 단어별 동작 파일을 이어 붙입니다.</a:t>
            </a:r>
          </a:p>
        </p:txBody>
      </p:sp>
      <p:sp>
        <p:nvSpPr>
          <p:cNvPr id="17" name="단계 화살표 3"/>
          <p:cNvSpPr txBox="1"/>
          <p:nvPr/>
        </p:nvSpPr>
        <p:spPr>
          <a:xfrm>
            <a:off x="8652967" y="3268980"/>
            <a:ext cx="353873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/>
            <a:r>
              <a:rPr lang="ko-KR" altLang="en-US" sz="2000" b="1" dirty="0">
                <a:solidFill>
                  <a:srgbClr val="A1A1A6"/>
                </a:solidFill>
              </a:rPr>
              <a:t>›</a:t>
            </a:r>
          </a:p>
        </p:txBody>
      </p:sp>
      <p:sp>
        <p:nvSpPr>
          <p:cNvPr id="18" name="단계 04 카드"/>
          <p:cNvSpPr/>
          <p:nvPr/>
        </p:nvSpPr>
        <p:spPr>
          <a:xfrm>
            <a:off x="9006840" y="2194560"/>
            <a:ext cx="2377440" cy="2606040"/>
          </a:xfrm>
          <a:prstGeom prst="roundRect">
            <a:avLst>
              <a:gd name="adj" fmla="val 8000"/>
            </a:avLst>
          </a:prstGeom>
          <a:solidFill>
            <a:srgbClr val="242426"/>
          </a:solidFill>
          <a:ln w="12700">
            <a:solidFill>
              <a:srgbClr val="404044"/>
            </a:solidFill>
          </a:ln>
        </p:spPr>
        <p:txBody>
          <a:bodyPr wrap="square" lIns="201168" tIns="201168" rIns="201168" bIns="201168" anchor="t">
            <a:normAutofit/>
          </a:bodyPr>
          <a:lstStyle/>
          <a:p>
            <a:pPr algn="l">
              <a:spcAft>
                <a:spcPts val="1000"/>
              </a:spcAft>
            </a:pPr>
            <a:r>
              <a:rPr lang="ko-KR" altLang="en-US" sz="1400" b="1" dirty="0">
                <a:solidFill>
                  <a:srgbClr val="A1A1A6"/>
                </a:solidFill>
              </a:rPr>
              <a:t>04</a:t>
            </a:r>
          </a:p>
          <a:p>
            <a:pPr algn="l">
              <a:spcAft>
                <a:spcPts val="800"/>
              </a:spcAft>
            </a:pPr>
            <a:r>
              <a:rPr lang="ko-KR" altLang="en-US" sz="2000" b="1" dirty="0">
                <a:solidFill>
                  <a:srgbClr val="FFFFFF"/>
                </a:solidFill>
              </a:rPr>
              <a:t>아바타 재생</a:t>
            </a:r>
          </a:p>
          <a:p>
            <a:pPr algn="l"/>
            <a:r>
              <a:rPr lang="ko-KR" altLang="en-US" sz="1400" b="0" dirty="0">
                <a:solidFill>
                  <a:srgbClr val="E5E5EA"/>
                </a:solidFill>
              </a:rPr>
              <a:t>연결한 키포인트로 3D 아바타가 안내 문장을 수어로 보여 줍니다.</a:t>
            </a:r>
          </a:p>
        </p:txBody>
      </p:sp>
      <p:sp>
        <p:nvSpPr>
          <p:cNvPr id="19" name="수치 1"/>
          <p:cNvSpPr txBox="1"/>
          <p:nvPr/>
        </p:nvSpPr>
        <p:spPr>
          <a:xfrm>
            <a:off x="812902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6개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수어로 연결한 안내 문장</a:t>
            </a:r>
          </a:p>
        </p:txBody>
      </p:sp>
      <p:sp>
        <p:nvSpPr>
          <p:cNvPr id="20" name="수치 2"/>
          <p:cNvSpPr txBox="1"/>
          <p:nvPr/>
        </p:nvSpPr>
        <p:spPr>
          <a:xfrm>
            <a:off x="4428134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33개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단어별 동작(키포인트) 파일</a:t>
            </a:r>
          </a:p>
        </p:txBody>
      </p:sp>
      <p:sp>
        <p:nvSpPr>
          <p:cNvPr id="21" name="수치 3"/>
          <p:cNvSpPr txBox="1"/>
          <p:nvPr/>
        </p:nvSpPr>
        <p:spPr>
          <a:xfrm>
            <a:off x="8043367" y="5166360"/>
            <a:ext cx="3340913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3200" b="1" dirty="0">
                <a:solidFill>
                  <a:srgbClr val="FFFFFF"/>
                </a:solidFill>
              </a:rPr>
              <a:t>137점</a:t>
            </a:r>
          </a:p>
          <a:p>
            <a:pPr algn="l"/>
            <a:r>
              <a:rPr lang="ko-KR" altLang="en-US" sz="1300" b="0" dirty="0">
                <a:solidFill>
                  <a:srgbClr val="A1A1A6"/>
                </a:solidFill>
              </a:rPr>
              <a:t>프레임당 인식하는 키포인트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>
                <a:solidFill>
                  <a:srgbClr val="FFFFFF"/>
                </a:solidFill>
              </a:rPr>
              <a:t>인식한 동작을 문장 순서대로 재생합니다.</a:t>
            </a:r>
            <a:endParaRPr sz="3900" b="1" dirty="0">
              <a:solidFill>
                <a:srgbClr val="FFFFFF"/>
              </a:solidFill>
            </a:endParaRPr>
          </a:p>
        </p:txBody>
      </p:sp>
      <p:sp>
        <p:nvSpPr>
          <p:cNvPr id="11" name="영상 자리 (영상 삽입 후 삭제)"/>
          <p:cNvSpPr/>
          <p:nvPr/>
        </p:nvSpPr>
        <p:spPr>
          <a:xfrm>
            <a:off x="812902" y="1463040"/>
            <a:ext cx="6766560" cy="3806190"/>
          </a:xfrm>
          <a:prstGeom prst="rect">
            <a:avLst/>
          </a:prstGeom>
          <a:solidFill>
            <a:srgbClr val="242426"/>
          </a:solidFill>
          <a:ln w="12700">
            <a:solidFill>
              <a:srgbClr val="404044"/>
            </a:solidFill>
            <a:prstDash val="dash"/>
          </a:ln>
        </p:spPr>
        <p:txBody>
          <a:bodyPr wrap="square" lIns="274320" tIns="274320" rIns="274320" bIns="274320" anchor="ctr">
            <a:normAutofit/>
          </a:bodyPr>
          <a:lstStyle/>
          <a:p>
            <a:pPr algn="ctr">
              <a:spcAft>
                <a:spcPts val="800"/>
              </a:spcAft>
            </a:pPr>
            <a:r>
              <a:rPr lang="ko-KR" altLang="en-US" sz="2200" b="1" dirty="0">
                <a:solidFill>
                  <a:srgbClr val="FFFFFF"/>
                </a:solidFill>
              </a:rPr>
              <a:t>▶  수어 동작 인식 영상</a:t>
            </a:r>
          </a:p>
          <a:p>
            <a:pPr algn="ctr"/>
            <a:r>
              <a:rPr lang="ko-KR" altLang="en-US" sz="1300" b="0" dirty="0">
                <a:solidFill>
                  <a:srgbClr val="A1A1A6"/>
                </a:solidFill>
              </a:rPr>
              <a:t>삽입 › 비디오 › 이 디바이스 로 영상을 넣고, 이 상자에 맞춘 뒤 상자를 지우세요.</a:t>
            </a:r>
          </a:p>
        </p:txBody>
      </p:sp>
      <p:sp>
        <p:nvSpPr>
          <p:cNvPr id="12" name="영상 설명"/>
          <p:cNvSpPr txBox="1"/>
          <p:nvPr/>
        </p:nvSpPr>
        <p:spPr>
          <a:xfrm>
            <a:off x="812902" y="5406390"/>
            <a:ext cx="6766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200" b="0" dirty="0">
                <a:solidFill>
                  <a:srgbClr val="A1A1A6"/>
                </a:solidFill>
              </a:rPr>
              <a:t>AI Hub 수어 키포인트로 만든 동작 연결 시험 결과이며, 완성된 수어 번역 검수본은 아닙니다.</a:t>
            </a:r>
          </a:p>
        </p:txBody>
      </p:sp>
      <p:sp>
        <p:nvSpPr>
          <p:cNvPr id="13" name="시연 문장"/>
          <p:cNvSpPr txBox="1"/>
          <p:nvPr/>
        </p:nvSpPr>
        <p:spPr>
          <a:xfrm>
            <a:off x="7990942" y="1463040"/>
            <a:ext cx="3393338" cy="160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600"/>
              </a:spcAft>
            </a:pPr>
            <a:r>
              <a:rPr lang="ko-KR" altLang="en-US" sz="1300" b="1" dirty="0">
                <a:solidFill>
                  <a:srgbClr val="A1A1A6"/>
                </a:solidFill>
              </a:rPr>
              <a:t>시연 문장</a:t>
            </a:r>
          </a:p>
          <a:p>
            <a:pPr algn="l"/>
            <a:r>
              <a:rPr lang="ko-KR" altLang="en-US" sz="1800" b="1" dirty="0">
                <a:solidFill>
                  <a:srgbClr val="FFFFFF"/>
                </a:solidFill>
              </a:rPr>
              <a:t>쓰러지는 물체에 발을 다칠 위험이 있으면 안전화를 착용하세요.</a:t>
            </a:r>
          </a:p>
        </p:txBody>
      </p:sp>
      <p:sp>
        <p:nvSpPr>
          <p:cNvPr id="14" name="동작 순서 제목"/>
          <p:cNvSpPr txBox="1"/>
          <p:nvPr/>
        </p:nvSpPr>
        <p:spPr>
          <a:xfrm>
            <a:off x="7990942" y="3200400"/>
            <a:ext cx="339333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A1A1A6"/>
                </a:solidFill>
              </a:rPr>
              <a:t>동작 순서</a:t>
            </a:r>
          </a:p>
        </p:txBody>
      </p:sp>
      <p:sp>
        <p:nvSpPr>
          <p:cNvPr id="15" name="동작 1 쓰러지다"/>
          <p:cNvSpPr/>
          <p:nvPr/>
        </p:nvSpPr>
        <p:spPr>
          <a:xfrm>
            <a:off x="7990942" y="3657600"/>
            <a:ext cx="1605229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09728" rIns="109728" bIns="109728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6E6E73"/>
                </a:solidFill>
              </a:rPr>
              <a:t>1  </a:t>
            </a:r>
            <a:r>
              <a:rPr lang="ko-KR" altLang="en-US" sz="1400" b="1" dirty="0">
                <a:solidFill>
                  <a:srgbClr val="000000"/>
                </a:solidFill>
              </a:rPr>
              <a:t>쓰러지다</a:t>
            </a:r>
          </a:p>
        </p:txBody>
      </p:sp>
      <p:sp>
        <p:nvSpPr>
          <p:cNvPr id="16" name="동작 2 용품"/>
          <p:cNvSpPr/>
          <p:nvPr/>
        </p:nvSpPr>
        <p:spPr>
          <a:xfrm>
            <a:off x="9779051" y="3657600"/>
            <a:ext cx="1605229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09728" rIns="109728" bIns="109728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6E6E73"/>
                </a:solidFill>
              </a:rPr>
              <a:t>2  </a:t>
            </a:r>
            <a:r>
              <a:rPr lang="ko-KR" altLang="en-US" sz="1400" b="1" dirty="0">
                <a:solidFill>
                  <a:srgbClr val="000000"/>
                </a:solidFill>
              </a:rPr>
              <a:t>용품</a:t>
            </a:r>
          </a:p>
        </p:txBody>
      </p:sp>
      <p:sp>
        <p:nvSpPr>
          <p:cNvPr id="17" name="동작 3 발가락"/>
          <p:cNvSpPr/>
          <p:nvPr/>
        </p:nvSpPr>
        <p:spPr>
          <a:xfrm>
            <a:off x="7990942" y="4169664"/>
            <a:ext cx="1605229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09728" rIns="109728" bIns="109728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6E6E73"/>
                </a:solidFill>
              </a:rPr>
              <a:t>3  </a:t>
            </a:r>
            <a:r>
              <a:rPr lang="ko-KR" altLang="en-US" sz="1400" b="1" dirty="0">
                <a:solidFill>
                  <a:srgbClr val="000000"/>
                </a:solidFill>
              </a:rPr>
              <a:t>발가락</a:t>
            </a:r>
          </a:p>
        </p:txBody>
      </p:sp>
      <p:sp>
        <p:nvSpPr>
          <p:cNvPr id="18" name="동작 4 상처"/>
          <p:cNvSpPr/>
          <p:nvPr/>
        </p:nvSpPr>
        <p:spPr>
          <a:xfrm>
            <a:off x="9779051" y="4169664"/>
            <a:ext cx="1605229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09728" rIns="109728" bIns="109728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6E6E73"/>
                </a:solidFill>
              </a:rPr>
              <a:t>4  </a:t>
            </a:r>
            <a:r>
              <a:rPr lang="ko-KR" altLang="en-US" sz="1400" b="1" dirty="0">
                <a:solidFill>
                  <a:srgbClr val="000000"/>
                </a:solidFill>
              </a:rPr>
              <a:t>상처</a:t>
            </a:r>
          </a:p>
        </p:txBody>
      </p:sp>
      <p:sp>
        <p:nvSpPr>
          <p:cNvPr id="19" name="동작 5 조심"/>
          <p:cNvSpPr/>
          <p:nvPr/>
        </p:nvSpPr>
        <p:spPr>
          <a:xfrm>
            <a:off x="7990942" y="4681728"/>
            <a:ext cx="1605229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09728" rIns="109728" bIns="109728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6E6E73"/>
                </a:solidFill>
              </a:rPr>
              <a:t>5  </a:t>
            </a:r>
            <a:r>
              <a:rPr lang="ko-KR" altLang="en-US" sz="1400" b="1" dirty="0">
                <a:solidFill>
                  <a:srgbClr val="000000"/>
                </a:solidFill>
              </a:rPr>
              <a:t>조심</a:t>
            </a:r>
          </a:p>
        </p:txBody>
      </p:sp>
      <p:sp>
        <p:nvSpPr>
          <p:cNvPr id="20" name="동작 6 보호"/>
          <p:cNvSpPr/>
          <p:nvPr/>
        </p:nvSpPr>
        <p:spPr>
          <a:xfrm>
            <a:off x="9779051" y="4681728"/>
            <a:ext cx="1605229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09728" rIns="109728" bIns="109728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6E6E73"/>
                </a:solidFill>
              </a:rPr>
              <a:t>6  </a:t>
            </a:r>
            <a:r>
              <a:rPr lang="ko-KR" altLang="en-US" sz="1400" b="1" dirty="0">
                <a:solidFill>
                  <a:srgbClr val="000000"/>
                </a:solidFill>
              </a:rPr>
              <a:t>보호</a:t>
            </a:r>
          </a:p>
        </p:txBody>
      </p:sp>
      <p:sp>
        <p:nvSpPr>
          <p:cNvPr id="21" name="동작 7 운동화"/>
          <p:cNvSpPr/>
          <p:nvPr/>
        </p:nvSpPr>
        <p:spPr>
          <a:xfrm>
            <a:off x="7990942" y="5193792"/>
            <a:ext cx="1605229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09728" rIns="109728" bIns="109728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6E6E73"/>
                </a:solidFill>
              </a:rPr>
              <a:t>7  </a:t>
            </a:r>
            <a:r>
              <a:rPr lang="ko-KR" altLang="en-US" sz="1400" b="1" dirty="0">
                <a:solidFill>
                  <a:srgbClr val="000000"/>
                </a:solidFill>
              </a:rPr>
              <a:t>운동화</a:t>
            </a:r>
          </a:p>
        </p:txBody>
      </p:sp>
      <p:sp>
        <p:nvSpPr>
          <p:cNvPr id="22" name="동작 8 쓰다"/>
          <p:cNvSpPr/>
          <p:nvPr/>
        </p:nvSpPr>
        <p:spPr>
          <a:xfrm>
            <a:off x="9779051" y="5193792"/>
            <a:ext cx="1605229" cy="4023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109728" rIns="109728" bIns="109728" anchor="ctr">
            <a:normAutofit/>
          </a:bodyPr>
          <a:lstStyle/>
          <a:p>
            <a:pPr algn="l"/>
            <a:r>
              <a:rPr lang="ko-KR" altLang="en-US" sz="1300" b="1" dirty="0">
                <a:solidFill>
                  <a:srgbClr val="6E6E73"/>
                </a:solidFill>
              </a:rPr>
              <a:t>8  </a:t>
            </a:r>
            <a:r>
              <a:rPr lang="ko-KR" altLang="en-US" sz="1400" b="1" dirty="0">
                <a:solidFill>
                  <a:srgbClr val="000000"/>
                </a:solidFill>
              </a:rPr>
              <a:t>쓰다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theme/theme1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와이드스크린</PresentationFormat>
  <Paragraphs>132</Paragraphs>
  <Slides>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(본문)</vt:lpstr>
      <vt:lpstr>맑은 고딕</vt:lpstr>
      <vt:lpstr>Arial</vt:lpstr>
      <vt:lpstr>이음 중간 발표</vt:lpstr>
      <vt:lpstr>이음</vt:lpstr>
      <vt:lpstr>PowerPoint 프레젠테이션</vt:lpstr>
      <vt:lpstr>먼저 규정에서 답변 근거를 수집합니다.</vt:lpstr>
      <vt:lpstr>근거 수집 정도에 따라 답변합니다.</vt:lpstr>
      <vt:lpstr>답변을 단어로, 단어를 수어로.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 중간 발표</dc:title>
  <cp:lastModifiedBy>이서영</cp:lastModifiedBy>
  <cp:revision>7</cp:revision>
  <dcterms:created xsi:type="dcterms:W3CDTF">2026-10-18T10:37:58Z</dcterms:created>
  <dcterms:modified xsi:type="dcterms:W3CDTF">2026-10-19T12:56:23Z</dcterms:modified>
  <cp:version/>
</cp:coreProperties>
</file>