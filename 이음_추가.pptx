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2" r:id="rId7"/>
    <p:sldId id="260" r:id="rId8"/>
    <p:sldId id="261" r:id="rId9"/>
    <p:sldId id="266" r:id="rId10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552" y="7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안녕하십니까. 저희 팀이 만든 서비스는 ‘이음’입니다.</a:t>
            </a:r>
          </a:p>
          <a:p>
            <a:r>
              <a:t>산업 현장에서 일하는 청각장애인 근로자가 안전 정보를 수어로 바로 확인할 수 있도록 만든 안내 서비스입니다.</a:t>
            </a:r>
          </a:p>
          <a:p>
            <a:r>
              <a:t>예를 들어 작업자가 “보호구는 어떻게 관리해요?”라고 질문을 입력하면, 이음이 어떻게 답하는지 순서대로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질문이 들어오면 이음은 먼저 공식 규정에서 답변 근거를 찾습니다.</a:t>
            </a:r>
          </a:p>
          <a:p>
            <a:r>
              <a:t>기준 자료는 안전보건공단의 KOSHA GUIDE, 「개인보호구의 사용 및 관리에 관한 기술지원규정」입니다.</a:t>
            </a:r>
          </a:p>
          <a:p>
            <a:r>
              <a:t>보호구 관리 질문이라면 이 규정의 5쪽과 23쪽에서 관련 조항을 찾아, 답변 아래 출처 카드로 함께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찾은 근거의 양에 따라 답변 방식이 세 가지로 나뉩니다.</a:t>
            </a:r>
          </a:p>
          <a:p>
            <a:r>
              <a:t>미리 준비한 예상 질문이면 검수한 모범 답변을 그대로 보여줍니다.</a:t>
            </a:r>
          </a:p>
          <a:p>
            <a:r>
              <a:t>예상하지 못한 질문이면 수집한 규정 근거만 사용해 Claude가 답변을 만듭니다.</a:t>
            </a:r>
          </a:p>
          <a:p>
            <a:r>
              <a:t>그리고 점심 메뉴 추천처럼 규정에 근거가 없는 질문에는 답을 지어내지 않고, 관련 내용을 찾지 못했다고 솔직하게 안내합니다. 안전 정보이기 때문에 틀린 답보다 ‘모른다’가 낫다고 판단했습니다.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이렇게 만든 답변은 단어 단위로 나눕니다.</a:t>
            </a:r>
          </a:p>
          <a:p>
            <a:r>
              <a:t>흰색으로 표시된 단어는 수어 데이터가 있는 단어이고, 회색은 아직 데이터가 없는 단어입니다.</a:t>
            </a:r>
          </a:p>
          <a:p>
            <a:r>
              <a:t>데이터가 있는 단어를 순서대로 이어서 3D 아바타가 수어로 보여줍니다. 어떤 단어가 수어로 표현됐고 어떤 단어가 빠졌는지 사용자가 한눈에 알 수 있게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전체 화면입니다. 질문, 답변, 수어 안내, 근거 확인을 한 화면에 담았습니다.</a:t>
            </a:r>
          </a:p>
          <a:p>
            <a:r>
              <a:t>왼쪽 위 ①번에서 작업 중 궁금한 내용을 자연어로 입력하고, ②번 추천 질문으로 자주 묻는 내용을 바로 고를 수도 있습니다.</a:t>
            </a:r>
          </a:p>
          <a:p>
            <a:r>
              <a:t>③번에서는 3D 아바타가 답변을 수어로 보여주고, ④번에서 답변과 함께 근거가 된 규정 문서를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화면을 설계할 때는 신뢰성과 접근성, 두 가지를 함께 고려했습니다.</a:t>
            </a:r>
          </a:p>
          <a:p>
            <a:r>
              <a:t>첫째, 모든 답변에 법령과 규정 근거를 붙였습니다. 둘째, 수어 자료가 3D인지 2D인지, 아직 확보하지 못했는지 상태를 구분해 보여줍니다.</a:t>
            </a:r>
          </a:p>
          <a:p>
            <a:r>
              <a:t>셋째, ‘다시 보기’로 수어 동작을 반복해서 볼 수 있고, 넷째, 추천 질문과 큰 글씨, 높은 대비로 누구나 쉽게 쓸 수 있게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저희가 사용한 데이터입니다.</a:t>
            </a:r>
          </a:p>
          <a:p>
            <a:r>
              <a:t>안내 문장의 근거는 안전보건공단 KOSHA GUIDE에서 가져왔고, 수어 영상과 키포인트는 AI Hub의 재난 안전 수어 데이터를 사용했습니다.</a:t>
            </a:r>
          </a:p>
          <a:p>
            <a:r>
              <a:t>단어별 수어 표현은 국립국어원 한국수어사전으로, 실제 대화 속 표현은 국립국어원의 한국수어–한국어 병렬 말뭉치로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자료를 바탕으로 산업안전 안내 문장을 고르고, 문장마다 확보한 수어 표현을 연결했습니다.</a:t>
            </a:r>
          </a:p>
          <a:p>
            <a:r>
              <a:t>예를 들어 “쓰러지는 물체에 발을 다칠 위험이 있으면 안전화를 착용하세요”는 쓰러지다, 발가락, 상처, 보호, 운동화 같은 표현으로 연결했습니다.</a:t>
            </a:r>
          </a:p>
          <a:p>
            <a:r>
              <a:t>다만 ‘안전화’를 ‘보호+운동화’로 나타내는 것처럼 정확히 대응하는 수어가 없는 경우가 있어서, 오른쪽 칸에 추가로 확보하거나 의미를 검수해야 할 부분을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나머지 다섯 문장도 같은 방식으로 정리했습니다.</a:t>
            </a:r>
          </a:p>
          <a:p>
            <a:r>
              <a:t>정리한 결과는 문장별 키포인트 폴더와, 동작 순서와 파일 경로를 담은 sentence.json 파일로 구현팀에 전달했습니다.</a:t>
            </a:r>
          </a:p>
          <a:p>
            <a:r>
              <a:t>지금 자료는 확보한 표현을 기준으로 만든 구현 테스트용이며, 완성된 수어 번역은 아니라는 점을 함께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수어 동작을 어떻게 다루는지 설명드리겠습니다.</a:t>
            </a:r>
          </a:p>
          <a:p>
            <a:r>
              <a:t>수어 영상에서 사람의 몸, 손, 얼굴 위치를 점으로 읽어 냅니다. 이 점을 키포인트라고 하는데, 한 프레임마다 몸 25개, 양손 21개씩, 얼굴 70개, 모두 137개입니다.</a:t>
            </a:r>
          </a:p>
          <a:p>
            <a:r>
              <a:t>단어별로 뽑은 키포인트를 sentence.json에 적힌 순서대로 이어 붙이면, 3D 아바타가 안내 문장을 수어로 보여줄 수 있습니다.</a:t>
            </a:r>
          </a:p>
          <a:p>
            <a:r>
              <a:t>이번에 추가한 문장은 6개, 단어별 동작 파일은 33개입니다.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반대 방향도 구현했습니다. 사용자가 카메라 앞에서 수어로 질문하면, 그 동작을 인식해 질문으로 바꿉니다. 영상으로 보여드리겠습니다.</a:t>
            </a:r>
          </a:p>
          <a:p>
            <a:r>
              <a:t>[영상 재생 — 약 12초]</a:t>
            </a:r>
          </a:p>
          <a:p>
            <a:r>
              <a:t>지금 사용자가 카메라 앞에서 수어 동작을 하고 있습니다. 화면의 선과 점이 손, 몸, 얼굴 키포인트를 실시간으로 따라가는 모습입니다.</a:t>
            </a:r>
          </a:p>
          <a:p>
            <a:r>
              <a:t>시스템이 ‘도망’이라는 수어를 인식해 “대피소가 어디예요?”라는 질문으로 이해했습니다.</a:t>
            </a:r>
          </a:p>
          <a:p>
            <a:r>
              <a:t>답변으로는 아바타가 수어로 방향을 알려주고, 지도와 함께 남서쪽 550미터 경산동부초등학교 대피소를 안내합니다.</a:t>
            </a:r>
          </a:p>
          <a:p>
            <a:r>
              <a:t>이렇게 카메라 영상만으로 수어 동작을 인식할 수 있게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앞으로의 계획입니다.</a:t>
            </a:r>
          </a:p>
          <a:p>
            <a:r>
              <a:t>첫째, 지금까지의 설계와 수어 인식 결과를 논문으로 정리하고 있습니다.</a:t>
            </a:r>
          </a:p>
          <a:p>
            <a:r>
              <a:t>둘째, 청각장애인 복지시설을 추가로 방문해, 실제 사용자분들과 함께 파일럿 테스트를 진행하겠습니다.</a:t>
            </a:r>
          </a:p>
          <a:p>
            <a:r>
              <a:t>셋째, 테스트에서 나온 의견과 결과를 바탕으로 수어 인식 정확도와 수어 데이터를 보완하겠습니다.</a:t>
            </a:r>
          </a:p>
          <a:p>
            <a:r>
              <a:t>최종적으로는 청각장애인 근로자가 현장에서 안전 정보를 수어로 묻고 답할 수 있는, 완성된 서비스로 제작하는 것을 목표로 하고 있습니다.</a:t>
            </a:r>
          </a:p>
          <a:p>
            <a:r>
              <a:t>들어주셔서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61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30970"/>
            <a:ext cx="10566400" cy="431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61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30970"/>
            <a:ext cx="10566400" cy="4314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gif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kern="0" spc="-75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입력하면,</a:t>
            </a:r>
            <a:endParaRPr lang="en-US" sz="4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54304" y="2159000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8800"/>
              </a:lnSpc>
              <a:buNone/>
            </a:pPr>
            <a:r>
              <a:rPr lang="en-US" sz="8000" b="1" i="0" kern="0" spc="-200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1905000" y="3536950"/>
            <a:ext cx="8382000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60600" y="3705870"/>
            <a:ext cx="437507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보호구는 어떻게 관리해요?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582150" y="3632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pic>
        <p:nvPicPr>
          <p:cNvPr id="7" name="Image 0" descr="보내기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59950" y="3810000"/>
            <a:ext cx="254000" cy="254000"/>
          </a:xfrm>
          <a:prstGeom prst="rect">
            <a:avLst/>
          </a:prstGeom>
        </p:spPr>
      </p:pic>
      <p:pic>
        <p:nvPicPr>
          <p:cNvPr id="8" name="Image 1" descr="다음 장으로 이어지는 선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39400" y="3860800"/>
            <a:ext cx="17526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3607" y="282491"/>
            <a:ext cx="10724786" cy="603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3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i="0" kern="0" spc="-75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규정에서 답변 근거를 수집합니다.</a:t>
            </a:r>
            <a:endParaRPr lang="en-US" sz="4200" dirty="0"/>
          </a:p>
        </p:txBody>
      </p:sp>
      <p:pic>
        <p:nvPicPr>
          <p:cNvPr id="3" name="Image 0" descr="앞 장에서 이어지는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860800"/>
            <a:ext cx="2273300" cy="152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00300" y="2038350"/>
            <a:ext cx="2686050" cy="37973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/>
        </p:spPr>
      </p:sp>
      <p:pic>
        <p:nvPicPr>
          <p:cNvPr id="5" name="Image 1" descr="KOSHA GUIDE 개인보호구의 사용 및 관리에 관한 기술지원규정 표지"/>
          <p:cNvPicPr>
            <a:picLocks noChangeAspect="1"/>
          </p:cNvPicPr>
          <p:nvPr/>
        </p:nvPicPr>
        <p:blipFill>
          <a:blip r:embed="rId4"/>
          <a:srcRect l="-237" r="-237"/>
          <a:stretch/>
        </p:blipFill>
        <p:spPr>
          <a:xfrm>
            <a:off x="2400300" y="2038350"/>
            <a:ext cx="2686050" cy="3797300"/>
          </a:xfrm>
          <a:prstGeom prst="roundRect">
            <a:avLst>
              <a:gd name="adj" fmla="val 5674"/>
            </a:avLst>
          </a:prstGeom>
        </p:spPr>
      </p:pic>
      <p:pic>
        <p:nvPicPr>
          <p:cNvPr id="6" name="Image 2" descr="화살표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26050" y="3860800"/>
            <a:ext cx="635000" cy="152400"/>
          </a:xfrm>
          <a:prstGeom prst="rect">
            <a:avLst/>
          </a:prstGeom>
        </p:spPr>
      </p:pic>
      <p:pic>
        <p:nvPicPr>
          <p:cNvPr id="7" name="Image 3" descr="답변 아래에 표시되는 출처 카드: 기술지원규정 5페이지와 23페이지 원문"/>
          <p:cNvPicPr>
            <a:picLocks noChangeAspect="1"/>
          </p:cNvPicPr>
          <p:nvPr/>
        </p:nvPicPr>
        <p:blipFill>
          <a:blip r:embed="rId6"/>
          <a:srcRect l="-156" r="-156"/>
          <a:stretch/>
        </p:blipFill>
        <p:spPr>
          <a:xfrm>
            <a:off x="6000750" y="2038350"/>
            <a:ext cx="3797300" cy="3797300"/>
          </a:xfrm>
          <a:prstGeom prst="rect">
            <a:avLst/>
          </a:prstGeom>
        </p:spPr>
      </p:pic>
      <p:pic>
        <p:nvPicPr>
          <p:cNvPr id="8" name="Image 4" descr="다음 장으로 이어지는 선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50450" y="3860800"/>
            <a:ext cx="22415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i="0" kern="0" spc="-75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수집 정도에 따라 답변합니다.</a:t>
            </a:r>
            <a:endParaRPr lang="en-US" sz="4200" dirty="0"/>
          </a:p>
        </p:txBody>
      </p:sp>
      <p:pic>
        <p:nvPicPr>
          <p:cNvPr id="3" name="Image 0" descr="하나의 선이 세 갈래로 나뉘는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413000"/>
            <a:ext cx="2667000" cy="30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68473" y="2273300"/>
            <a:ext cx="1752854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68473" y="2692400"/>
            <a:ext cx="175285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모범 답변 출력</a:t>
            </a:r>
            <a:endParaRPr lang="en-US" sz="1500" dirty="0"/>
          </a:p>
        </p:txBody>
      </p:sp>
      <p:pic>
        <p:nvPicPr>
          <p:cNvPr id="6" name="Image 1" descr="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5500" y="2540000"/>
            <a:ext cx="635000" cy="15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10200" y="1930400"/>
            <a:ext cx="4953000" cy="1374130"/>
          </a:xfrm>
          <a:prstGeom prst="roundRect">
            <a:avLst>
              <a:gd name="adj" fmla="val 11091"/>
            </a:avLst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5588000" y="208280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588000" y="2352030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보호구는 늘 사용할 수 있도록 관리하고 깨끗하게 유지해야 합니다. 사용하지 않을 때는 이상이 없는지 검사하고, 오염되지 않도록 건조하고 깨끗한 곳에 보관해야 합니다.</a:t>
            </a:r>
            <a:endParaRPr lang="en-US" sz="1400" dirty="0"/>
          </a:p>
        </p:txBody>
      </p:sp>
      <p:pic>
        <p:nvPicPr>
          <p:cNvPr id="10" name="Image 2" descr="다음 장으로 이어지는 선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15600" y="2540000"/>
            <a:ext cx="1676400" cy="152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68473" y="3594100"/>
            <a:ext cx="1752854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밖 질문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768473" y="4013200"/>
            <a:ext cx="175285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생성</a:t>
            </a:r>
            <a:endParaRPr lang="en-US" sz="1500" dirty="0"/>
          </a:p>
        </p:txBody>
      </p:sp>
      <p:pic>
        <p:nvPicPr>
          <p:cNvPr id="13" name="Image 3" descr="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5500" y="3860800"/>
            <a:ext cx="635000" cy="152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10200" y="3505200"/>
            <a:ext cx="4953000" cy="840730"/>
          </a:xfrm>
          <a:prstGeom prst="roundRect">
            <a:avLst>
              <a:gd name="adj" fmla="val 18127"/>
            </a:avLst>
          </a:prstGeom>
          <a:solidFill>
            <a:srgbClr val="FFFFFF"/>
          </a:solidFill>
          <a:ln/>
        </p:spPr>
      </p:sp>
      <p:sp>
        <p:nvSpPr>
          <p:cNvPr id="15" name="Text 9"/>
          <p:cNvSpPr/>
          <p:nvPr/>
        </p:nvSpPr>
        <p:spPr>
          <a:xfrm>
            <a:off x="5588000" y="365760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588000" y="3926830"/>
            <a:ext cx="47353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수집한 근거로 답변 생성</a:t>
            </a:r>
            <a:endParaRPr lang="en-US" sz="1400" dirty="0"/>
          </a:p>
        </p:txBody>
      </p:sp>
      <p:pic>
        <p:nvPicPr>
          <p:cNvPr id="17" name="Image 4" descr="다음 장으로 이어지는 선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15600" y="3860800"/>
            <a:ext cx="1676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667000" y="4756150"/>
            <a:ext cx="1955800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90"/>
              </a:lnSpc>
              <a:buNone/>
            </a:pPr>
            <a:r>
              <a:rPr lang="en-US" sz="2200" b="1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근거 부족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2768473" y="5175250"/>
            <a:ext cx="175285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500" dirty="0">
                <a:solidFill>
                  <a:srgbClr val="8686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점심 메뉴 추천</a:t>
            </a:r>
            <a:endParaRPr lang="en-US" sz="1500" dirty="0"/>
          </a:p>
        </p:txBody>
      </p:sp>
      <p:pic>
        <p:nvPicPr>
          <p:cNvPr id="20" name="Image 5" descr="화살표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5500" y="5022850"/>
            <a:ext cx="635000" cy="1524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410200" y="4546600"/>
            <a:ext cx="4953000" cy="1107430"/>
          </a:xfrm>
          <a:prstGeom prst="roundRect">
            <a:avLst>
              <a:gd name="adj" fmla="val 13762"/>
            </a:avLst>
          </a:prstGeom>
          <a:solidFill>
            <a:srgbClr val="FFFFFF"/>
          </a:solidFill>
          <a:ln/>
        </p:spPr>
      </p:sp>
      <p:sp>
        <p:nvSpPr>
          <p:cNvPr id="22" name="Text 14"/>
          <p:cNvSpPr/>
          <p:nvPr/>
        </p:nvSpPr>
        <p:spPr>
          <a:xfrm>
            <a:off x="5588000" y="469900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588000" y="4968230"/>
            <a:ext cx="47353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개인보호구의 사용 및 관리에 관한 기술지원규정에서 관련 내용을 찾지 못했습니다.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i="0" kern="0" spc="-75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답변을 단어로, 단어를 수어로.</a:t>
            </a:r>
            <a:endParaRPr lang="en-US" sz="4200" dirty="0"/>
          </a:p>
        </p:txBody>
      </p:sp>
      <p:pic>
        <p:nvPicPr>
          <p:cNvPr id="3" name="Image 0" descr="두 갈래의 답변이 하나로 모이는 화살표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540000"/>
            <a:ext cx="2222500" cy="152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2881" y="332740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보호구는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253929" y="3327400"/>
            <a:ext cx="366812" cy="325090"/>
          </a:xfrm>
          <a:prstGeom prst="roundRect">
            <a:avLst>
              <a:gd name="adj" fmla="val 19533"/>
            </a:avLst>
          </a:prstGeom>
          <a:solidFill>
            <a:srgbClr val="C7C7C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84240" y="3327400"/>
            <a:ext cx="693936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41676" y="332740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C7C7C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관리하고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62724" y="332740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깨끗하게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3771" y="332740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유지해야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32881" y="371599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사용하지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53929" y="3715990"/>
            <a:ext cx="530374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7802" y="3715990"/>
            <a:ext cx="693936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이상이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05238" y="3715990"/>
            <a:ext cx="693936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62674" y="371599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검사하고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83722" y="371599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C7C7C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오염되지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72123" y="410458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C7C7C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건조하고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93170" y="4104580"/>
            <a:ext cx="693936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깨끗한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50606" y="4104580"/>
            <a:ext cx="530374" cy="325090"/>
          </a:xfrm>
          <a:prstGeom prst="roundRect">
            <a:avLst>
              <a:gd name="adj" fmla="val 19533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곳에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44480" y="4104580"/>
            <a:ext cx="857548" cy="325090"/>
          </a:xfrm>
          <a:prstGeom prst="roundRect">
            <a:avLst>
              <a:gd name="adj" fmla="val 19533"/>
            </a:avLst>
          </a:prstGeom>
          <a:solidFill>
            <a:srgbClr val="C7C7C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보관해야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055495" y="4699000"/>
            <a:ext cx="536321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600" dirty="0">
                <a:solidFill>
                  <a:srgbClr val="F5F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흰색</a:t>
            </a:r>
            <a:r>
              <a:rPr lang="en-US" sz="1600" dirty="0">
                <a:solidFill>
                  <a:srgbClr val="A1A1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수어 데이터가 있는 단어</a:t>
            </a:r>
            <a:endParaRPr lang="en-US" sz="1600" dirty="0"/>
          </a:p>
          <a:p>
            <a:pPr marL="0" indent="0" algn="ctr">
              <a:lnSpc>
                <a:spcPts val="2320"/>
              </a:lnSpc>
              <a:buNone/>
            </a:pPr>
            <a:r>
              <a:rPr lang="en-US" sz="1600" dirty="0">
                <a:solidFill>
                  <a:srgbClr val="C7C7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회색</a:t>
            </a:r>
            <a:r>
              <a:rPr lang="en-US" sz="1600" dirty="0">
                <a:solidFill>
                  <a:srgbClr val="A1A1A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수어 데이터가 없는 단어</a:t>
            </a:r>
            <a:endParaRPr lang="en-US" sz="1600" dirty="0"/>
          </a:p>
        </p:txBody>
      </p:sp>
      <p:pic>
        <p:nvPicPr>
          <p:cNvPr id="21" name="Image 1" descr="안전모를 쓴 3D 아바타가 답변을 수어로 표현하는 움직이는 이미지"/>
          <p:cNvPicPr>
            <a:picLocks noChangeAspect="1"/>
          </p:cNvPicPr>
          <p:nvPr/>
        </p:nvPicPr>
        <p:blipFill>
          <a:blip r:embed="rId4"/>
          <a:srcRect l="23" r="23"/>
          <a:stretch/>
        </p:blipFill>
        <p:spPr>
          <a:xfrm>
            <a:off x="7823200" y="2286000"/>
            <a:ext cx="2857500" cy="2889250"/>
          </a:xfrm>
          <a:prstGeom prst="roundRect">
            <a:avLst>
              <a:gd name="adj" fmla="val 5333"/>
            </a:avLst>
          </a:prstGeom>
        </p:spPr>
      </p:pic>
      <p:pic>
        <p:nvPicPr>
          <p:cNvPr id="22" name="Image 2" descr="화살표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64400" y="3860800"/>
            <a:ext cx="6350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86459" y="328235"/>
            <a:ext cx="11019081" cy="62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2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6F794B83-CEDF-4483-BD8D-8D77CF8FBB0A}"/>
              </a:ext>
            </a:extLst>
          </p:cNvPr>
          <p:cNvSpPr>
            <a:spLocks noGrp="1"/>
          </p:cNvSpPr>
          <p:nvPr/>
        </p:nvSpPr>
        <p:spPr>
          <a:xfrm>
            <a:off x="812768" y="812768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산업안전 안내를 위한 자료를 모았습니다.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xmlns="" id="{5533C4C0-CCA6-45E9-B8D2-014EDFA197A3}"/>
              </a:ext>
            </a:extLst>
          </p:cNvPr>
          <p:cNvGraphicFramePr/>
          <p:nvPr/>
        </p:nvGraphicFramePr>
        <p:xfrm>
          <a:off x="812768" y="1952625"/>
          <a:ext cx="10566463" cy="3762375"/>
        </p:xfrm>
        <a:graphic>
          <a:graphicData uri="http://schemas.openxmlformats.org/drawingml/2006/table">
            <a:tbl>
              <a:tblPr/>
              <a:tblGrid>
                <a:gridCol w="2476500"/>
                <a:gridCol w="3952875"/>
                <a:gridCol w="4137088"/>
              </a:tblGrid>
              <a:tr h="485775">
                <a:tc>
                  <a:txBody>
                    <a:bodyPr/>
                    <a:lstStyle/>
                    <a:p>
                      <a:r>
                        <a:rPr sz="1725" b="1" dirty="0" err="1">
                          <a:solidFill>
                            <a:srgbClr val="FFFFFF"/>
                          </a:solidFill>
                        </a:rPr>
                        <a:t>자료</a:t>
                      </a:r>
                      <a:r>
                        <a:rPr sz="1725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725" b="1" dirty="0" err="1">
                          <a:solidFill>
                            <a:srgbClr val="FFFFFF"/>
                          </a:solidFill>
                        </a:rPr>
                        <a:t>출처</a:t>
                      </a:r>
                      <a:endParaRPr sz="1725" b="1" dirty="0">
                        <a:solidFill>
                          <a:srgbClr val="FFFFFF"/>
                        </a:solidFill>
                      </a:endParaRPr>
                    </a:p>
                  </a:txBody>
                  <a:tcPr marL="152400" marR="114300" marT="95250" marB="95250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참고·확보한 자료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활용 목적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 dirty="0" err="1">
                          <a:solidFill>
                            <a:srgbClr val="FFFFFF"/>
                          </a:solidFill>
                        </a:rPr>
                        <a:t>안전보건공단</a:t>
                      </a:r>
                      <a:endParaRPr sz="1725" b="1" dirty="0">
                        <a:solidFill>
                          <a:srgbClr val="FFFFFF"/>
                        </a:solidFill>
                      </a:endParaRPr>
                    </a:p>
                  </a:txBody>
                  <a:tcPr marL="152400" marR="114300" marT="95250" marB="95250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KOSHA GUIDE 및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안전작업 자료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산업안전 안내 문장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선정 근거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AI Hub</a:t>
                      </a:r>
                    </a:p>
                  </a:txBody>
                  <a:tcPr marL="152400" marR="114300" marT="95250" marB="95250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수어 영상 및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재난 안전 수어 데이터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대응 글로스·키포인트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검색 및 연결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국립국어원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한국수어사전</a:t>
                      </a:r>
                    </a:p>
                  </a:txBody>
                  <a:tcPr marL="152400" marR="114300" marT="95250" marB="95250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단어별 수어 설명·영상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산업안전 관련 단어의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의미와 수어 표현 확인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국립국어원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말뭉치</a:t>
                      </a:r>
                    </a:p>
                  </a:txBody>
                  <a:tcPr marL="152400" marR="114300" marT="95250" marB="95250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한국수어–한국어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병렬 말뭉치 2025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안전 관련 표현이 포함된</a:t>
                      </a:r>
                    </a:p>
                    <a:p>
                      <a:r>
                        <a:rPr sz="1725">
                          <a:solidFill>
                            <a:srgbClr val="E5E5EA"/>
                          </a:solidFill>
                        </a:rPr>
                        <a:t>대화 영상·번역 자료 선별</a:t>
                      </a:r>
                    </a:p>
                  </a:txBody>
                  <a:tcPr marL="152400" marR="114300" marT="95250" marB="95250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86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5961070-66A9-4AE3-88B9-401710DF7E41}"/>
              </a:ext>
            </a:extLst>
          </p:cNvPr>
          <p:cNvSpPr>
            <a:spLocks noGrp="1"/>
          </p:cNvSpPr>
          <p:nvPr/>
        </p:nvSpPr>
        <p:spPr>
          <a:xfrm>
            <a:off x="812768" y="812768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 dirty="0">
                <a:solidFill>
                  <a:srgbClr val="FFFFFF"/>
                </a:solidFill>
              </a:rPr>
              <a:t>안내 문장마다 수어 표현을 연결했습니다.</a:t>
            </a:r>
            <a:endParaRPr sz="42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xmlns="" id="{0FF50EFC-D31D-4E25-9CDD-789C3788C7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2717780"/>
              </p:ext>
            </p:extLst>
          </p:nvPr>
        </p:nvGraphicFramePr>
        <p:xfrm>
          <a:off x="819055" y="1711071"/>
          <a:ext cx="10566463" cy="4635246"/>
        </p:xfrm>
        <a:graphic>
          <a:graphicData uri="http://schemas.openxmlformats.org/drawingml/2006/table">
            <a:tbl>
              <a:tblPr/>
              <a:tblGrid>
                <a:gridCol w="4286250"/>
                <a:gridCol w="3238500"/>
                <a:gridCol w="3041713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 dirty="0" err="1" smtClean="0">
                          <a:solidFill>
                            <a:srgbClr val="FFFFFF"/>
                          </a:solidFill>
                          <a:latin typeface="Noto Sans KR (본문)"/>
                        </a:rPr>
                        <a:t>선정</a:t>
                      </a:r>
                      <a:r>
                        <a:rPr sz="1725" b="1" dirty="0" smtClean="0">
                          <a:solidFill>
                            <a:srgbClr val="FFFFFF"/>
                          </a:solidFill>
                          <a:latin typeface="Noto Sans KR (본문)"/>
                        </a:rPr>
                        <a:t> </a:t>
                      </a:r>
                      <a:r>
                        <a:rPr sz="1725" b="1" dirty="0" err="1" smtClean="0">
                          <a:solidFill>
                            <a:srgbClr val="FFFFFF"/>
                          </a:solidFill>
                          <a:latin typeface="Noto Sans KR (본문)"/>
                        </a:rPr>
                        <a:t>문장</a:t>
                      </a:r>
                      <a:endParaRPr sz="1725" b="1" dirty="0">
                        <a:solidFill>
                          <a:srgbClr val="FFFFFF"/>
                        </a:solidFill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smtClean="0">
                          <a:solidFill>
                            <a:srgbClr val="FFFFFF"/>
                          </a:solidFill>
                          <a:latin typeface="Noto Sans KR (본문)"/>
                        </a:rPr>
                        <a:t>확보한 대응 표현</a:t>
                      </a:r>
                      <a:endParaRPr sz="1725" b="1">
                        <a:solidFill>
                          <a:srgbClr val="FFFFFF"/>
                        </a:solidFill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 smtClean="0">
                          <a:solidFill>
                            <a:srgbClr val="FFFFFF"/>
                          </a:solidFill>
                          <a:latin typeface="Noto Sans KR (본문)"/>
                        </a:rPr>
                        <a:t>추가 확보·검수</a:t>
                      </a:r>
                      <a:endParaRPr sz="1725" b="1">
                        <a:solidFill>
                          <a:srgbClr val="FFFFFF"/>
                        </a:solidFill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보호구를 깨끗하게 관리하세요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.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smtClean="0">
                          <a:latin typeface="Noto Sans KR (본문)"/>
                        </a:rPr>
                        <a:t>보호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깨끗하다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사용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장비 추가 확보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 / </a:t>
                      </a:r>
                      <a:r>
                        <a:rPr lang="en-US" altLang="ko-KR" sz="1580" b="1" baseline="0" dirty="0" smtClean="0">
                          <a:latin typeface="Noto Sans KR (본문)"/>
                        </a:rPr>
                        <a:t/>
                      </a:r>
                      <a:r>
                        <a:rPr lang="ko-KR" altLang="en-US" sz="1580" b="1" baseline="0" dirty="0" smtClean="0">
                          <a:latin typeface="Noto Sans KR (본문)"/>
                        </a:rPr>
                        <a:t>'사용</a:t>
                      </a:r>
                      <a:r>
                        <a:rPr lang="en-US" altLang="ko-KR" sz="1580" b="1" baseline="0" dirty="0" smtClean="0">
                          <a:latin typeface="Noto Sans KR (본문)"/>
                        </a:rPr>
                        <a:t>'</a:t>
                      </a:r>
                      <a:r>
                        <a:rPr lang="ko-KR" altLang="en-US" sz="1580" b="1" baseline="0" dirty="0" smtClean="0">
                          <a:latin typeface="Noto Sans KR (본문)"/>
                        </a:rPr>
                        <a:t>과 </a:t>
                      </a:r>
                      <a:r>
                        <a:rPr lang="en-US" altLang="ko-KR" sz="1580" b="1" baseline="0" dirty="0" smtClean="0">
                          <a:latin typeface="Noto Sans KR (본문)"/>
                        </a:rPr>
                        <a:t>'</a:t>
                      </a:r>
                      <a:r>
                        <a:rPr lang="ko-KR" altLang="en-US" sz="1580" b="1" baseline="0" dirty="0" smtClean="0">
                          <a:latin typeface="Noto Sans KR (본문)"/>
                        </a:rPr>
                        <a:t>관리</a:t>
                      </a:r>
                      <a:r>
                        <a:rPr lang="en-US" altLang="ko-KR" sz="1580" b="1" baseline="0" dirty="0" smtClean="0">
                          <a:latin typeface="Noto Sans KR (본문)"/>
                        </a:rPr>
                        <a:t>'</a:t>
                      </a:r>
                      <a:r>
                        <a:rPr lang="ko-KR" altLang="en-US" sz="1580" b="1" baseline="0" dirty="0" smtClean="0">
                          <a:latin typeface="Noto Sans KR (본문)"/>
                        </a:rPr>
                        <a:t>의 의미 차이 검수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물체가 튈 수 있는 작업에서는 보안경을 착용하세요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.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smtClean="0">
                          <a:latin typeface="Noto Sans KR (본문)"/>
                        </a:rPr>
                        <a:t>용품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흩어지다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일하다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때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쓰다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smtClean="0">
                          <a:latin typeface="Noto Sans KR (본문)"/>
                        </a:rPr>
                        <a:t>보안경 표현 추가 확보 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/ 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물체가 튀는 상황과 착용 의미 검수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쓰러지는 물체에 발을 다칠 위험이 있으면 안전화를 착용하세요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.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쓰러지다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용품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발가락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상처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조심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보호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운동화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쓰다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smtClean="0">
                          <a:latin typeface="Noto Sans KR (본문)"/>
                        </a:rPr>
                        <a:t>운동화</a:t>
                      </a:r>
                      <a:r>
                        <a:rPr lang="en-US" altLang="ko-KR" sz="1580" b="1" smtClean="0">
                          <a:latin typeface="Noto Sans KR (본문)"/>
                        </a:rPr>
                        <a:t>·</a:t>
                      </a:r>
                      <a:r>
                        <a:rPr lang="ko-KR" altLang="en-US" sz="1580" b="1" smtClean="0">
                          <a:latin typeface="Noto Sans KR (본문)"/>
                        </a:rPr>
                        <a:t>안전화의 의미 차이 및 조건 표현 검수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소음이 큰 작업장에서는 귀마개를 착용하세요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.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큰소리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일터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쓰다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귀마개 표현 추가 확보 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/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소음 상황과 착용 의미 검수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ko-KR" altLang="en-US" sz="1580" b="1" smtClean="0">
                          <a:latin typeface="Noto Sans KR (본문)"/>
                        </a:rPr>
                        <a:t>높은 곳에서 작업할 때는 안전대를 사용하세요.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상부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일터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일하다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때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보호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벨트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쓰다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상부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·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높은 곳의 의미 차이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 / 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/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'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보호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+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벨트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'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가 </a:t>
                      </a:r>
                      <a:r>
                        <a:rPr lang="ko-KR" altLang="en-US" sz="1580" b="1" dirty="0" err="1" smtClean="0">
                          <a:latin typeface="Noto Sans KR (본문)"/>
                        </a:rPr>
                        <a:t>안전대를</a:t>
                      </a:r>
                      <a:r>
                        <a:rPr lang="ko-KR" altLang="en-US" sz="1580" b="1" dirty="0" smtClean="0">
                          <a:latin typeface="Noto Sans KR (본문)"/>
                        </a:rPr>
                        <a:t> 전달하는지 검수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latin typeface="Noto Sans KR (본문)"/>
                        </a:rPr>
                        <a:t>유해한 분진이 발생하는 작업에서는 호흡용 보호구를 착용하세요</a:t>
                      </a:r>
                      <a:r>
                        <a:rPr lang="en-US" altLang="ko-KR" sz="1580" b="1" dirty="0" smtClean="0">
                          <a:latin typeface="Noto Sans KR (본문)"/>
                        </a:rPr>
                        <a:t>.</a:t>
                      </a:r>
                      <a:endParaRPr lang="ko-KR" altLang="en-US" sz="1580" b="1" dirty="0"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해하다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흙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일어나다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때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보호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마스크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쓰다</a:t>
                      </a:r>
                      <a:endParaRPr sz="1580" b="1" dirty="0">
                        <a:solidFill>
                          <a:srgbClr val="E5E5EA"/>
                        </a:solidFill>
                        <a:latin typeface="Noto Sans KR (본문)"/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흙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·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분진의 의미 차이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, 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발생 의미의 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'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일어나다</a:t>
                      </a:r>
                      <a:r>
                        <a:rPr lang="en-US" altLang="ko-KR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'</a:t>
                      </a:r>
                      <a:r>
                        <a:rPr lang="ko-KR" altLang="en-US" sz="1580" b="1" dirty="0" smtClean="0">
                          <a:solidFill>
                            <a:srgbClr val="E5E5EA"/>
                          </a:solidFill>
                          <a:latin typeface="Noto Sans KR (본문)"/>
                        </a:rPr>
                        <a:t> 표현 검수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24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5961070-66A9-4AE3-88B9-401710DF7E41}"/>
              </a:ext>
            </a:extLst>
          </p:cNvPr>
          <p:cNvSpPr>
            <a:spLocks noGrp="1"/>
          </p:cNvSpPr>
          <p:nvPr/>
        </p:nvSpPr>
        <p:spPr>
          <a:xfrm>
            <a:off x="812768" y="812768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 dirty="0">
                <a:solidFill>
                  <a:srgbClr val="FFFFFF"/>
                </a:solidFill>
              </a:rPr>
              <a:t>나머지 문장도 같은 방식으로 연결했습니다.</a:t>
            </a:r>
            <a:endParaRPr sz="4200" b="1" dirty="0">
              <a:solidFill>
                <a:srgbClr val="FFFFFF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xmlns="" id="{0FF50EFC-D31D-4E25-9CDD-789C3788C7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182253"/>
              </p:ext>
            </p:extLst>
          </p:nvPr>
        </p:nvGraphicFramePr>
        <p:xfrm>
          <a:off x="812768" y="1692783"/>
          <a:ext cx="10566463" cy="3726180"/>
        </p:xfrm>
        <a:graphic>
          <a:graphicData uri="http://schemas.openxmlformats.org/drawingml/2006/table">
            <a:tbl>
              <a:tblPr/>
              <a:tblGrid>
                <a:gridCol w="4286250"/>
                <a:gridCol w="3238500"/>
                <a:gridCol w="3041713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 dirty="0" err="1">
                          <a:solidFill>
                            <a:srgbClr val="FFFFFF"/>
                          </a:solidFill>
                        </a:rPr>
                        <a:t>선정</a:t>
                      </a:r>
                      <a:r>
                        <a:rPr sz="1725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725" b="1" dirty="0" err="1">
                          <a:solidFill>
                            <a:srgbClr val="FFFFFF"/>
                          </a:solidFill>
                        </a:rPr>
                        <a:t>문장</a:t>
                      </a:r>
                      <a:endParaRPr sz="1725" b="1" dirty="0">
                        <a:solidFill>
                          <a:srgbClr val="FFFFFF"/>
                        </a:solidFill>
                      </a:endParaRP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확보한 대응 표현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추가 확보·검수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>
                      <a:solidFill>
                        <a:srgbClr val="404044"/>
                      </a:solidFill>
                      <a:prstDash val="soli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24242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작업할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때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안전모를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착용하세요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.</a:t>
                      </a: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일하다, 때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안전모·착용 / 좌표 형식 통일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감전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위험이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있으면</a:t>
                      </a:r>
                      <a:endParaRPr sz="1575" dirty="0">
                        <a:solidFill>
                          <a:srgbClr val="E5E5EA"/>
                        </a:solidFill>
                      </a:endParaRPr>
                    </a:p>
                    <a:p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보호구를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착용하세요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.</a:t>
                      </a: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감전, 위험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보호구·착용 / 조건 표현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보호구에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이상이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없는지</a:t>
                      </a:r>
                      <a:endParaRPr sz="1575" dirty="0">
                        <a:solidFill>
                          <a:srgbClr val="E5E5EA"/>
                        </a:solidFill>
                      </a:endParaRPr>
                    </a:p>
                    <a:p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확인하세요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.</a:t>
                      </a: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이상하다, 없다, 확인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보호구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위험한 곳에서는</a:t>
                      </a:r>
                    </a:p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작업을 중지하세요.</a:t>
                      </a: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위험, 장소, 일하다, 멈추다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문장 연결·의미 검수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낙하물을 조심하세요.</a:t>
                      </a:r>
                    </a:p>
                  </a:txBody>
                  <a:tcPr marL="142875" marR="95250" marT="85725" marB="85725" anchor="ctr">
                    <a:lnL w="6668">
                      <a:solidFill>
                        <a:srgbClr val="404044"/>
                      </a:solidFill>
                      <a:prstDash val="soli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E5E5EA"/>
                          </a:solidFill>
                        </a:rPr>
                        <a:t>낙하물, 조심</a:t>
                      </a: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문장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연결·의미</a:t>
                      </a:r>
                      <a:r>
                        <a:rPr sz="1575" dirty="0">
                          <a:solidFill>
                            <a:srgbClr val="E5E5EA"/>
                          </a:solidFill>
                        </a:rPr>
                        <a:t> </a:t>
                      </a:r>
                      <a:r>
                        <a:rPr sz="1575" dirty="0" err="1">
                          <a:solidFill>
                            <a:srgbClr val="E5E5EA"/>
                          </a:solidFill>
                        </a:rPr>
                        <a:t>검수</a:t>
                      </a:r>
                      <a:endParaRPr sz="1575" dirty="0">
                        <a:solidFill>
                          <a:srgbClr val="E5E5EA"/>
                        </a:solidFill>
                      </a:endParaRPr>
                    </a:p>
                  </a:txBody>
                  <a:tcPr marL="142875" marR="95250" marT="85725" marB="85725" anchor="ctr">
                    <a:lnL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404044"/>
                      </a:solidFill>
                      <a:prstDash val="solid"/>
                    </a:lnR>
                    <a:lnT w="6668" cap="flat" cmpd="sng" algn="ctr">
                      <a:solidFill>
                        <a:srgbClr val="404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404044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63F19A0-F91D-4616-A42B-42601EFAF285}"/>
              </a:ext>
            </a:extLst>
          </p:cNvPr>
          <p:cNvSpPr>
            <a:spLocks noGrp="1"/>
          </p:cNvSpPr>
          <p:nvPr/>
        </p:nvSpPr>
        <p:spPr>
          <a:xfrm>
            <a:off x="806481" y="5727573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E5E5EA"/>
                </a:solidFill>
              </a:defRPr>
            </a:defPPr>
          </a:lstStyle>
          <a:p>
            <a:pPr>
              <a:defRPr sz="1575" b="0">
                <a:solidFill>
                  <a:srgbClr val="E5E5EA"/>
                </a:solidFill>
              </a:defRPr>
            </a:pPr>
            <a:r>
              <a:rPr sz="1575" b="0">
                <a:solidFill>
                  <a:srgbClr val="E5E5EA"/>
                </a:solidFill>
              </a:rPr>
              <a:t>구현팀 전달: 문장별 키포인트 폴더 + 동작 순서·파일 경로를 담은 sentence.json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99275F7-AB87-452B-A481-08D51A8EF21E}"/>
              </a:ext>
            </a:extLst>
          </p:cNvPr>
          <p:cNvSpPr>
            <a:spLocks noGrp="1"/>
          </p:cNvSpPr>
          <p:nvPr/>
        </p:nvSpPr>
        <p:spPr>
          <a:xfrm>
            <a:off x="806481" y="6108573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A1A1A6"/>
                </a:solidFill>
              </a:defRPr>
            </a:defPPr>
          </a:lstStyle>
          <a:p>
            <a:pPr>
              <a:defRPr sz="1350" b="0">
                <a:solidFill>
                  <a:srgbClr val="A1A1A6"/>
                </a:solidFill>
              </a:defRPr>
            </a:pPr>
            <a:r>
              <a:rPr sz="1350" b="0">
                <a:solidFill>
                  <a:srgbClr val="A1A1A6"/>
                </a:solidFill>
              </a:rPr>
              <a:t>확보한 표현 기준의 구현 테스트 자료이며, 완성된 수어 번역은 아님.</a:t>
            </a:r>
          </a:p>
        </p:txBody>
      </p:sp>
    </p:spTree>
    <p:extLst>
      <p:ext uri="{BB962C8B-B14F-4D97-AF65-F5344CB8AC3E}">
        <p14:creationId xmlns:p14="http://schemas.microsoft.com/office/powerpoint/2010/main" val="281517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5961070-66A9-4AE3-88B9-401710DF7E41}"/>
              </a:ext>
            </a:extLst>
          </p:cNvPr>
          <p:cNvSpPr>
            <a:spLocks noGrp="1"/>
          </p:cNvSpPr>
          <p:nvPr/>
        </p:nvSpPr>
        <p:spPr>
          <a:xfrm>
            <a:off x="812768" y="812768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 dirty="0">
                <a:solidFill>
                  <a:srgbClr val="FFFFFF"/>
                </a:solidFill>
              </a:rPr>
              <a:t>수어 영상을 키포인트 동작으로 바꿉니다.</a:t>
            </a:r>
            <a:endParaRPr sz="4200" b="1" dirty="0">
              <a:solidFill>
                <a:srgbClr val="FFFFFF"/>
              </a:solidFill>
            </a:endParaRPr>
          </a:p>
        </p:txBody>
      </p:sp>
      <p:sp>
        <p:nvSpPr>
          <p:cNvPr id="11" name="부제"/>
          <p:cNvSpPr txBox="1"/>
          <p:nvPr/>
        </p:nvSpPr>
        <p:spPr>
          <a:xfrm>
            <a:off x="812902" y="1691640"/>
            <a:ext cx="1057137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ko-KR" altLang="en-US" sz="1600" b="0" dirty="0">
                <a:solidFill>
                  <a:srgbClr val="E5E5EA"/>
                </a:solidFill>
              </a:rPr>
              <a:t>수어 영상에서 몸·손·얼굴의 위치를 점(키포인트)으로 읽어, 아바타가 따라 할 동작으로 바꿉니다.</a:t>
            </a:r>
          </a:p>
        </p:txBody>
      </p:sp>
      <p:sp>
        <p:nvSpPr>
          <p:cNvPr id="12" name="단계 01 카드"/>
          <p:cNvSpPr/>
          <p:nvPr/>
        </p:nvSpPr>
        <p:spPr>
          <a:xfrm>
            <a:off x="812902" y="2423160"/>
            <a:ext cx="2377440" cy="2606040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수어 영상 입력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AI Hub·국립국어원 수어 영상에서 단어(글로스)별 동작 구간을 가져옵니다.</a:t>
            </a:r>
          </a:p>
        </p:txBody>
      </p:sp>
      <p:sp>
        <p:nvSpPr>
          <p:cNvPr id="13" name="단계 화살표 1"/>
          <p:cNvSpPr txBox="1"/>
          <p:nvPr/>
        </p:nvSpPr>
        <p:spPr>
          <a:xfrm>
            <a:off x="3190342" y="3497580"/>
            <a:ext cx="35387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A1A1A6"/>
                </a:solidFill>
              </a:rPr>
              <a:t>›</a:t>
            </a:r>
          </a:p>
        </p:txBody>
      </p:sp>
      <p:sp>
        <p:nvSpPr>
          <p:cNvPr id="14" name="단계 02 카드"/>
          <p:cNvSpPr/>
          <p:nvPr/>
        </p:nvSpPr>
        <p:spPr>
          <a:xfrm>
            <a:off x="3544214" y="2423160"/>
            <a:ext cx="2377440" cy="2606040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동작 인식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프레임마다 몸 25점, 양손 21점씩, 얼굴 70점의 좌표를 추출합니다.</a:t>
            </a:r>
          </a:p>
        </p:txBody>
      </p:sp>
      <p:sp>
        <p:nvSpPr>
          <p:cNvPr id="15" name="단계 화살표 2"/>
          <p:cNvSpPr txBox="1"/>
          <p:nvPr/>
        </p:nvSpPr>
        <p:spPr>
          <a:xfrm>
            <a:off x="5921654" y="3497580"/>
            <a:ext cx="35387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A1A1A6"/>
                </a:solidFill>
              </a:rPr>
              <a:t>›</a:t>
            </a:r>
          </a:p>
        </p:txBody>
      </p:sp>
      <p:sp>
        <p:nvSpPr>
          <p:cNvPr id="16" name="단계 03 카드"/>
          <p:cNvSpPr/>
          <p:nvPr/>
        </p:nvSpPr>
        <p:spPr>
          <a:xfrm>
            <a:off x="6275527" y="2423160"/>
            <a:ext cx="2377440" cy="2606040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순서대로 연결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sentence.json의 순서(order)대로 단어별 동작 파일을 이어 붙입니다.</a:t>
            </a:r>
          </a:p>
        </p:txBody>
      </p:sp>
      <p:sp>
        <p:nvSpPr>
          <p:cNvPr id="17" name="단계 화살표 3"/>
          <p:cNvSpPr txBox="1"/>
          <p:nvPr/>
        </p:nvSpPr>
        <p:spPr>
          <a:xfrm>
            <a:off x="8652967" y="3497580"/>
            <a:ext cx="35387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A1A1A6"/>
                </a:solidFill>
              </a:rPr>
              <a:t>›</a:t>
            </a:r>
          </a:p>
        </p:txBody>
      </p:sp>
      <p:sp>
        <p:nvSpPr>
          <p:cNvPr id="18" name="단계 04 카드"/>
          <p:cNvSpPr/>
          <p:nvPr/>
        </p:nvSpPr>
        <p:spPr>
          <a:xfrm>
            <a:off x="9006840" y="2423160"/>
            <a:ext cx="2377440" cy="2606040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Aft>
                <a:spcPts val="10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아바타 재생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연결한 키포인트로 3D 아바타가 안내 문장을 수어로 보여 줍니다.</a:t>
            </a:r>
          </a:p>
        </p:txBody>
      </p:sp>
      <p:sp>
        <p:nvSpPr>
          <p:cNvPr id="19" name="수치 1"/>
          <p:cNvSpPr txBox="1"/>
          <p:nvPr/>
        </p:nvSpPr>
        <p:spPr>
          <a:xfrm>
            <a:off x="812902" y="5303520"/>
            <a:ext cx="334091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ko-KR" altLang="en-US" sz="3200" b="1" dirty="0">
                <a:solidFill>
                  <a:srgbClr val="FFFFFF"/>
                </a:solidFill>
              </a:rPr>
              <a:t>6개</a:t>
            </a:r>
          </a:p>
          <a:p>
            <a:pPr algn="l"/>
            <a:r>
              <a:rPr lang="ko-KR" altLang="en-US" sz="1300" b="0" dirty="0">
                <a:solidFill>
                  <a:srgbClr val="A1A1A6"/>
                </a:solidFill>
              </a:rPr>
              <a:t>이번에 추가한 안내 문장</a:t>
            </a:r>
          </a:p>
        </p:txBody>
      </p:sp>
      <p:sp>
        <p:nvSpPr>
          <p:cNvPr id="20" name="수치 2"/>
          <p:cNvSpPr txBox="1"/>
          <p:nvPr/>
        </p:nvSpPr>
        <p:spPr>
          <a:xfrm>
            <a:off x="4428134" y="5303520"/>
            <a:ext cx="334091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ko-KR" altLang="en-US" sz="3200" b="1" dirty="0">
                <a:solidFill>
                  <a:srgbClr val="FFFFFF"/>
                </a:solidFill>
              </a:rPr>
              <a:t>33개</a:t>
            </a:r>
          </a:p>
          <a:p>
            <a:pPr algn="l"/>
            <a:r>
              <a:rPr lang="ko-KR" altLang="en-US" sz="1300" b="0" dirty="0">
                <a:solidFill>
                  <a:srgbClr val="A1A1A6"/>
                </a:solidFill>
              </a:rPr>
              <a:t>추가 문장의 단어별 동작 파일</a:t>
            </a:r>
          </a:p>
        </p:txBody>
      </p:sp>
      <p:sp>
        <p:nvSpPr>
          <p:cNvPr id="21" name="수치 3"/>
          <p:cNvSpPr txBox="1"/>
          <p:nvPr/>
        </p:nvSpPr>
        <p:spPr>
          <a:xfrm>
            <a:off x="8043367" y="5303520"/>
            <a:ext cx="334091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ko-KR" altLang="en-US" sz="3200" b="1" dirty="0">
                <a:solidFill>
                  <a:srgbClr val="FFFFFF"/>
                </a:solidFill>
              </a:rPr>
              <a:t>137점</a:t>
            </a:r>
          </a:p>
          <a:p>
            <a:pPr algn="l"/>
            <a:r>
              <a:rPr lang="ko-KR" altLang="en-US" sz="1300" b="0" dirty="0">
                <a:solidFill>
                  <a:srgbClr val="A1A1A6"/>
                </a:solidFill>
              </a:rPr>
              <a:t>프레임당 몸·손·얼굴 키포인트</a:t>
            </a:r>
          </a:p>
        </p:txBody>
      </p:sp>
    </p:spTree>
    <p:extLst>
      <p:ext uri="{BB962C8B-B14F-4D97-AF65-F5344CB8AC3E}">
        <p14:creationId xmlns:p14="http://schemas.microsoft.com/office/powerpoint/2010/main" val="2815172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5961070-66A9-4AE3-88B9-401710DF7E41}"/>
              </a:ext>
            </a:extLst>
          </p:cNvPr>
          <p:cNvSpPr>
            <a:spLocks noGrp="1"/>
          </p:cNvSpPr>
          <p:nvPr/>
        </p:nvSpPr>
        <p:spPr>
          <a:xfrm>
            <a:off x="812768" y="812768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 dirty="0">
                <a:solidFill>
                  <a:srgbClr val="FFFFFF"/>
                </a:solidFill>
              </a:rPr>
              <a:t>카메라로 수어 질문을 인식합니다.</a:t>
            </a:r>
            <a:endParaRPr sz="4200" b="1" dirty="0">
              <a:solidFill>
                <a:srgbClr val="FFFFFF"/>
              </a:solidFill>
            </a:endParaRPr>
          </a:p>
        </p:txBody>
      </p:sp>
      <p:sp>
        <p:nvSpPr>
          <p:cNvPr id="11" name="부제"/>
          <p:cNvSpPr txBox="1"/>
          <p:nvPr/>
        </p:nvSpPr>
        <p:spPr>
          <a:xfrm>
            <a:off x="812902" y="1691640"/>
            <a:ext cx="1057137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ko-KR" altLang="en-US" sz="1600" b="0" dirty="0">
                <a:solidFill>
                  <a:srgbClr val="E5E5EA"/>
                </a:solidFill>
              </a:rPr>
              <a:t>카메라 영상만으로 수어 동작을 실시간 인식할 수 있게 했습니다.</a:t>
            </a:r>
          </a:p>
        </p:txBody>
      </p:sp>
      <p:sp>
        <p:nvSpPr>
          <p:cNvPr id="12" name="시연 단계 1"/>
          <p:cNvSpPr/>
          <p:nvPr/>
        </p:nvSpPr>
        <p:spPr>
          <a:xfrm>
            <a:off x="7625182" y="2240280"/>
            <a:ext cx="3759098" cy="931545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1  </a:t>
            </a:r>
            <a:r>
              <a:rPr lang="ko-KR" altLang="en-US" sz="1600" b="1" dirty="0">
                <a:solidFill>
                  <a:srgbClr val="FFFFFF"/>
                </a:solidFill>
              </a:rPr>
              <a:t>수어로 질문</a:t>
            </a:r>
          </a:p>
          <a:p>
            <a:pPr algn="l"/>
            <a:r>
              <a:rPr lang="ko-KR" altLang="en-US" sz="1300" b="0" dirty="0">
                <a:solidFill>
                  <a:srgbClr val="E5E5EA"/>
                </a:solidFill>
              </a:rPr>
              <a:t>카메라 앞에서 수어 동작을 합니다.</a:t>
            </a:r>
          </a:p>
        </p:txBody>
      </p:sp>
      <p:sp>
        <p:nvSpPr>
          <p:cNvPr id="13" name="시연 단계 2"/>
          <p:cNvSpPr/>
          <p:nvPr/>
        </p:nvSpPr>
        <p:spPr>
          <a:xfrm>
            <a:off x="7625182" y="3263265"/>
            <a:ext cx="3759098" cy="931545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2  </a:t>
            </a:r>
            <a:r>
              <a:rPr lang="ko-KR" altLang="en-US" sz="1600" b="1" dirty="0">
                <a:solidFill>
                  <a:srgbClr val="FFFFFF"/>
                </a:solidFill>
              </a:rPr>
              <a:t>동작 추적</a:t>
            </a:r>
          </a:p>
          <a:p>
            <a:pPr algn="l"/>
            <a:r>
              <a:rPr lang="ko-KR" altLang="en-US" sz="1300" b="0" dirty="0">
                <a:solidFill>
                  <a:srgbClr val="E5E5EA"/>
                </a:solidFill>
              </a:rPr>
              <a:t>손·몸·얼굴 키포인트를 실시간으로 따라갑니다.</a:t>
            </a:r>
          </a:p>
        </p:txBody>
      </p:sp>
      <p:sp>
        <p:nvSpPr>
          <p:cNvPr id="14" name="시연 단계 3"/>
          <p:cNvSpPr/>
          <p:nvPr/>
        </p:nvSpPr>
        <p:spPr>
          <a:xfrm>
            <a:off x="7625182" y="4286250"/>
            <a:ext cx="3759098" cy="931545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3  </a:t>
            </a:r>
            <a:r>
              <a:rPr lang="ko-KR" altLang="en-US" sz="1600" b="1" dirty="0">
                <a:solidFill>
                  <a:srgbClr val="FFFFFF"/>
                </a:solidFill>
              </a:rPr>
              <a:t>의미 인식</a:t>
            </a:r>
          </a:p>
          <a:p>
            <a:pPr algn="l"/>
            <a:r>
              <a:rPr lang="ko-KR" altLang="en-US" sz="1300" b="0" dirty="0">
                <a:solidFill>
                  <a:srgbClr val="E5E5EA"/>
                </a:solidFill>
              </a:rPr>
              <a:t>‘도망’을 인식해 “대피소가 어디예요?”로 이해합니다.</a:t>
            </a:r>
          </a:p>
        </p:txBody>
      </p:sp>
      <p:sp>
        <p:nvSpPr>
          <p:cNvPr id="15" name="시연 단계 4"/>
          <p:cNvSpPr/>
          <p:nvPr/>
        </p:nvSpPr>
        <p:spPr>
          <a:xfrm>
            <a:off x="7625182" y="5309235"/>
            <a:ext cx="3759098" cy="931545"/>
          </a:xfrm>
          <a:prstGeom prst="roundRect">
            <a:avLst>
              <a:gd name="adj" fmla="val 8000"/>
            </a:avLst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spcAft>
                <a:spcPts val="300"/>
              </a:spcAft>
            </a:pPr>
            <a:r>
              <a:rPr lang="ko-KR" altLang="en-US" sz="1400" b="1" dirty="0">
                <a:solidFill>
                  <a:srgbClr val="A1A1A6"/>
                </a:solidFill>
              </a:rPr>
              <a:t>4  </a:t>
            </a:r>
            <a:r>
              <a:rPr lang="ko-KR" altLang="en-US" sz="1600" b="1" dirty="0">
                <a:solidFill>
                  <a:srgbClr val="FFFFFF"/>
                </a:solidFill>
              </a:rPr>
              <a:t>답변 안내</a:t>
            </a:r>
          </a:p>
          <a:p>
            <a:pPr algn="l"/>
            <a:r>
              <a:rPr lang="ko-KR" altLang="en-US" sz="1300" b="0" dirty="0">
                <a:solidFill>
                  <a:srgbClr val="E5E5EA"/>
                </a:solidFill>
              </a:rPr>
              <a:t>아바타 수어와 지도로 남서쪽 550미터 경산동부초등학교를 안내합니다.</a:t>
            </a:r>
          </a:p>
        </p:txBody>
      </p:sp>
      <p:pic>
        <p:nvPicPr>
          <p:cNvPr id="16" name="수어 인식 시연 영상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901" y="2240280"/>
            <a:ext cx="64008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72414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67" fill="hold"/>
                                  <p:tgtEl>
                                    <p:spTgt spid="16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5961070-66A9-4AE3-88B9-401710DF7E41}"/>
              </a:ext>
            </a:extLst>
          </p:cNvPr>
          <p:cNvSpPr>
            <a:spLocks noGrp="1"/>
          </p:cNvSpPr>
          <p:nvPr/>
        </p:nvSpPr>
        <p:spPr>
          <a:xfrm>
            <a:off x="812768" y="812768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 dirty="0">
                <a:solidFill>
                  <a:srgbClr val="FFFFFF"/>
                </a:solidFill>
              </a:rPr>
              <a:t>현장 검증으로 서비스를 완성하겠습니다.</a:t>
            </a:r>
            <a:endParaRPr sz="4200" b="1" dirty="0">
              <a:solidFill>
                <a:srgbClr val="FFFFFF"/>
              </a:solidFill>
            </a:endParaRPr>
          </a:p>
        </p:txBody>
      </p:sp>
      <p:sp>
        <p:nvSpPr>
          <p:cNvPr id="11" name="부제"/>
          <p:cNvSpPr txBox="1"/>
          <p:nvPr/>
        </p:nvSpPr>
        <p:spPr>
          <a:xfrm>
            <a:off x="812902" y="1691640"/>
            <a:ext cx="1057137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ko-KR" altLang="en-US" sz="1600" b="0" dirty="0">
                <a:solidFill>
                  <a:srgbClr val="E5E5EA"/>
                </a:solidFill>
              </a:rPr>
              <a:t>논문 작성부터 현장 파일럿 테스트까지, 실제 사용자와 함께 서비스를 다듬어 가겠습니다.</a:t>
            </a:r>
          </a:p>
        </p:txBody>
      </p:sp>
      <p:sp>
        <p:nvSpPr>
          <p:cNvPr id="12" name="단계 연결선"/>
          <p:cNvSpPr/>
          <p:nvPr/>
        </p:nvSpPr>
        <p:spPr>
          <a:xfrm>
            <a:off x="1096366" y="3429000"/>
            <a:ext cx="7928534" cy="18288"/>
          </a:xfrm>
          <a:prstGeom prst="rect">
            <a:avLst/>
          </a:prstGeom>
          <a:solidFill>
            <a:srgbClr val="40404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ko-KR"/>
          </a:p>
        </p:txBody>
      </p:sp>
      <p:sp>
        <p:nvSpPr>
          <p:cNvPr id="13" name="단계 01 표시"/>
          <p:cNvSpPr/>
          <p:nvPr/>
        </p:nvSpPr>
        <p:spPr>
          <a:xfrm>
            <a:off x="812902" y="315468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14" name="단계 01 상태"/>
          <p:cNvSpPr txBox="1"/>
          <p:nvPr/>
        </p:nvSpPr>
        <p:spPr>
          <a:xfrm>
            <a:off x="812902" y="26517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FFFFFF"/>
                </a:solidFill>
              </a:rPr>
              <a:t>진행 중</a:t>
            </a:r>
          </a:p>
        </p:txBody>
      </p:sp>
      <p:sp>
        <p:nvSpPr>
          <p:cNvPr id="15" name="단계 01 내용"/>
          <p:cNvSpPr txBox="1"/>
          <p:nvPr/>
        </p:nvSpPr>
        <p:spPr>
          <a:xfrm>
            <a:off x="812902" y="3995928"/>
            <a:ext cx="2322805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논문 작성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이음의 설계와 수어 인식 결과를 논문으로 정리하고 있습니다.</a:t>
            </a:r>
          </a:p>
        </p:txBody>
      </p:sp>
      <p:sp>
        <p:nvSpPr>
          <p:cNvPr id="16" name="단계 02 표시"/>
          <p:cNvSpPr/>
          <p:nvPr/>
        </p:nvSpPr>
        <p:spPr>
          <a:xfrm>
            <a:off x="3455746" y="3154680"/>
            <a:ext cx="566928" cy="566928"/>
          </a:xfrm>
          <a:prstGeom prst="ellipse">
            <a:avLst/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단계 02 상태"/>
          <p:cNvSpPr txBox="1"/>
          <p:nvPr/>
        </p:nvSpPr>
        <p:spPr>
          <a:xfrm>
            <a:off x="3455746" y="26517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A1A1A6"/>
                </a:solidFill>
              </a:rPr>
              <a:t>계획</a:t>
            </a:r>
          </a:p>
        </p:txBody>
      </p:sp>
      <p:sp>
        <p:nvSpPr>
          <p:cNvPr id="18" name="단계 02 내용"/>
          <p:cNvSpPr txBox="1"/>
          <p:nvPr/>
        </p:nvSpPr>
        <p:spPr>
          <a:xfrm>
            <a:off x="3455746" y="3995928"/>
            <a:ext cx="2322805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파일럿 테스트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청각장애인 복지시설을 추가로 방문해 실제 사용자와 함께 시험합니다.</a:t>
            </a:r>
          </a:p>
        </p:txBody>
      </p:sp>
      <p:sp>
        <p:nvSpPr>
          <p:cNvPr id="19" name="단계 03 표시"/>
          <p:cNvSpPr/>
          <p:nvPr/>
        </p:nvSpPr>
        <p:spPr>
          <a:xfrm>
            <a:off x="6098591" y="3154680"/>
            <a:ext cx="566928" cy="566928"/>
          </a:xfrm>
          <a:prstGeom prst="ellipse">
            <a:avLst/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단계 03 상태"/>
          <p:cNvSpPr txBox="1"/>
          <p:nvPr/>
        </p:nvSpPr>
        <p:spPr>
          <a:xfrm>
            <a:off x="6098591" y="26517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A1A1A6"/>
                </a:solidFill>
              </a:rPr>
              <a:t>계획</a:t>
            </a:r>
          </a:p>
        </p:txBody>
      </p:sp>
      <p:sp>
        <p:nvSpPr>
          <p:cNvPr id="21" name="단계 03 내용"/>
          <p:cNvSpPr txBox="1"/>
          <p:nvPr/>
        </p:nvSpPr>
        <p:spPr>
          <a:xfrm>
            <a:off x="6098591" y="3995928"/>
            <a:ext cx="2322805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성능 개선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테스트 결과를 바탕으로 수어 인식 정확도와 수어 데이터를 보완합니다.</a:t>
            </a:r>
          </a:p>
        </p:txBody>
      </p:sp>
      <p:sp>
        <p:nvSpPr>
          <p:cNvPr id="22" name="단계 04 표시"/>
          <p:cNvSpPr/>
          <p:nvPr/>
        </p:nvSpPr>
        <p:spPr>
          <a:xfrm>
            <a:off x="8741435" y="3154680"/>
            <a:ext cx="566928" cy="566928"/>
          </a:xfrm>
          <a:prstGeom prst="ellipse">
            <a:avLst/>
          </a:prstGeom>
          <a:solidFill>
            <a:srgbClr val="242426"/>
          </a:solidFill>
          <a:ln w="12700">
            <a:solidFill>
              <a:srgbClr val="404044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단계 04 상태"/>
          <p:cNvSpPr txBox="1"/>
          <p:nvPr/>
        </p:nvSpPr>
        <p:spPr>
          <a:xfrm>
            <a:off x="8741435" y="26517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ko-KR" altLang="en-US" sz="1300" b="1" dirty="0">
                <a:solidFill>
                  <a:srgbClr val="A1A1A6"/>
                </a:solidFill>
              </a:rPr>
              <a:t>목표</a:t>
            </a:r>
          </a:p>
        </p:txBody>
      </p:sp>
      <p:sp>
        <p:nvSpPr>
          <p:cNvPr id="24" name="단계 04 내용"/>
          <p:cNvSpPr txBox="1"/>
          <p:nvPr/>
        </p:nvSpPr>
        <p:spPr>
          <a:xfrm>
            <a:off x="8741435" y="3995928"/>
            <a:ext cx="2322805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800"/>
              </a:spcAft>
            </a:pPr>
            <a:r>
              <a:rPr lang="ko-KR" altLang="en-US" sz="2000" b="1" dirty="0">
                <a:solidFill>
                  <a:srgbClr val="FFFFFF"/>
                </a:solidFill>
              </a:rPr>
              <a:t>서비스 완성</a:t>
            </a:r>
          </a:p>
          <a:p>
            <a:pPr algn="l"/>
            <a:r>
              <a:rPr lang="ko-KR" altLang="en-US" sz="1400" b="0" dirty="0">
                <a:solidFill>
                  <a:srgbClr val="E5E5EA"/>
                </a:solidFill>
              </a:rPr>
              <a:t>현장에서 바로 쓸 수 있는 완성된 서비스로 제작합니다.</a:t>
            </a:r>
          </a:p>
        </p:txBody>
      </p:sp>
    </p:spTree>
    <p:extLst>
      <p:ext uri="{BB962C8B-B14F-4D97-AF65-F5344CB8AC3E}">
        <p14:creationId xmlns:p14="http://schemas.microsoft.com/office/powerpoint/2010/main" val="2815172414"/>
      </p:ext>
    </p:extLst>
  </p:cSld>
  <p:clrMapOvr>
    <a:masterClrMapping/>
  </p:clrMapOvr>
</p:sld>
</file>

<file path=ppt/theme/theme1.xml><?xml version="1.0" encoding="utf-8"?>
<a:theme xmlns:a="http://schemas.openxmlformats.org/drawingml/2006/main" name="이음 중간 발표">
  <a:themeElements>
    <a:clrScheme name="이음 중간 발표">
      <a:dk1>
        <a:srgbClr val="000000"/>
      </a:dk1>
      <a:lt1>
        <a:srgbClr val="F5F5F7"/>
      </a:lt1>
      <a:dk2>
        <a:srgbClr val="191919"/>
      </a:dk2>
      <a:lt2>
        <a:srgbClr val="B8B8B9"/>
      </a:lt2>
      <a:accent1>
        <a:srgbClr val="1D1D1F"/>
      </a:accent1>
      <a:accent2>
        <a:srgbClr val="C7C7CC"/>
      </a:accent2>
      <a:accent3>
        <a:srgbClr val="86868B"/>
      </a:accent3>
      <a:accent4>
        <a:srgbClr val="6E6E73"/>
      </a:accent4>
      <a:accent5>
        <a:srgbClr val="A1A1A6"/>
      </a:accent5>
      <a:accent6>
        <a:srgbClr val="9AA0A6"/>
      </a:accent6>
      <a:hlink>
        <a:srgbClr val="0563C1"/>
      </a:hlink>
      <a:folHlink>
        <a:srgbClr val="954F72"/>
      </a:folHlink>
    </a:clrScheme>
    <a:fontScheme name="이음 중간 발표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이음 중간 발표">
  <a:themeElements>
    <a:clrScheme name="이음 중간 발표">
      <a:dk1>
        <a:srgbClr val="000000"/>
      </a:dk1>
      <a:lt1>
        <a:srgbClr val="F5F5F7"/>
      </a:lt1>
      <a:dk2>
        <a:srgbClr val="191919"/>
      </a:dk2>
      <a:lt2>
        <a:srgbClr val="B8B8B9"/>
      </a:lt2>
      <a:accent1>
        <a:srgbClr val="1D1D1F"/>
      </a:accent1>
      <a:accent2>
        <a:srgbClr val="C7C7CC"/>
      </a:accent2>
      <a:accent3>
        <a:srgbClr val="86868B"/>
      </a:accent3>
      <a:accent4>
        <a:srgbClr val="6E6E73"/>
      </a:accent4>
      <a:accent5>
        <a:srgbClr val="A1A1A6"/>
      </a:accent5>
      <a:accent6>
        <a:srgbClr val="9AA0A6"/>
      </a:accent6>
      <a:hlink>
        <a:srgbClr val="0563C1"/>
      </a:hlink>
      <a:folHlink>
        <a:srgbClr val="954F72"/>
      </a:folHlink>
    </a:clrScheme>
    <a:fontScheme name="이음 중간 발표">
      <a:majorFont>
        <a:latin typeface="Noto Sans KR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563</Words>
  <Application>Microsoft Office PowerPoint</Application>
  <PresentationFormat>와이드스크린</PresentationFormat>
  <Paragraphs>132</Paragraphs>
  <Slides>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Noto Sans KR (본문)</vt:lpstr>
      <vt:lpstr>맑은 고딕</vt:lpstr>
      <vt:lpstr>Arial</vt:lpstr>
      <vt:lpstr>이음 중간 발표</vt:lpstr>
      <vt:lpstr>이음</vt:lpstr>
      <vt:lpstr>PowerPoint 프레젠테이션</vt:lpstr>
      <vt:lpstr>먼저 규정에서 답변 근거를 수집합니다.</vt:lpstr>
      <vt:lpstr>근거 수집 정도에 따라 답변합니다.</vt:lpstr>
      <vt:lpstr>답변을 단어로, 단어를 수어로.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이음 중간 발표</dc:title>
  <cp:lastModifiedBy>이서영</cp:lastModifiedBy>
  <cp:revision>7</cp:revision>
  <dcterms:created xsi:type="dcterms:W3CDTF">2026-10-18T10:37:58Z</dcterms:created>
  <dcterms:modified xsi:type="dcterms:W3CDTF">2026-10-19T12:56:23Z</dcterms:modified>
  <cp:version/>
</cp:coreProperties>
</file>