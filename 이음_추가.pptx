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  <p:sldId id="269" r:id="rId18"/>
    <p:sldId id="27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안녕하십니까. 저희 팀이 만든 서비스는 ‘이음’입니다.</a:t>
            </a:r>
          </a:p>
          <a:p>
            <a:r>
              <a:t>산업 현장에서 일하는 청각장애인 근로자가 안전 정보를 수어로 바로 확인할 수 있도록 만든 안내 서비스입니다.</a:t>
            </a:r>
          </a:p>
          <a:p>
            <a:r>
              <a:t>예를 들어 작업자가 “보호구는 어떻게 관리해요?”라고 질문을 입력하면, 이음이 어떻게 답하는지 순서대로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질문이 들어오면 이음은 먼저 공식 규정에서 답변 근거를 찾습니다.</a:t>
            </a:r>
          </a:p>
          <a:p>
            <a:r>
              <a:t>기준 자료는 안전보건공단의 KOSHA GUIDE, 「개인보호구의 사용 및 관리에 관한 기술지원규정」입니다.</a:t>
            </a:r>
          </a:p>
          <a:p>
            <a:r>
              <a:t>보호구 관리 질문이라면 이 규정의 5쪽과 23쪽에서 관련 조항을 찾아, 답변 아래 출처 카드로 함께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찾은 근거의 양에 따라 답변 방식이 세 가지로 나뉩니다.</a:t>
            </a:r>
          </a:p>
          <a:p>
            <a:r>
              <a:t>미리 준비한 예상 질문이면 검수한 모범 답변을 그대로 보여줍니다.</a:t>
            </a:r>
          </a:p>
          <a:p>
            <a:r>
              <a:t>예상하지 못한 질문이면 수집한 규정 근거만 사용해 Claude가 답변을 만듭니다.</a:t>
            </a:r>
          </a:p>
          <a:p>
            <a:r>
              <a:t>그리고 점심 메뉴 추천처럼 규정에 근거가 없는 질문에는 답을 지어내지 않고, 관련 내용을 찾지 못했다고 솔직하게 안내합니다. 안전 정보이기 때문에 틀린 답보다 ‘모른다’가 낫다고 판단했습니다.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이렇게 만든 답변은 단어 단위로 나눕니다.</a:t>
            </a:r>
          </a:p>
          <a:p>
            <a:r>
              <a:t>흰색으로 표시된 단어는 수어 데이터가 있는 단어이고, 회색은 아직 데이터가 없는 단어입니다.</a:t>
            </a:r>
          </a:p>
          <a:p>
            <a:r>
              <a:t>데이터가 있는 단어를 순서대로 이어서 3D 아바타가 수어로 보여줍니다. 어떤 단어가 수어로 표현됐고 어떤 단어가 빠졌는지 사용자가 한눈에 알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전체 화면입니다. 질문, 답변, 수어 안내, 근거 확인을 한 화면에 담았습니다.</a:t>
            </a:r>
          </a:p>
          <a:p>
            <a:r>
              <a:t>왼쪽 위 ①번에서 작업 중 궁금한 내용을 자연어로 입력하고, ②번 추천 질문으로 자주 묻는 내용을 바로 고를 수도 있습니다.</a:t>
            </a:r>
          </a:p>
          <a:p>
            <a:r>
              <a:t>③번에서는 3D 아바타가 답변을 수어로 보여주고, ④번에서 답변과 함께 근거가 된 규정 문서를 확인할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화면을 설계할 때는 신뢰성과 접근성, 두 가지를 함께 고려했습니다.</a:t>
            </a:r>
          </a:p>
          <a:p>
            <a:r>
              <a:t>첫째, 모든 답변에 법령과 규정 근거를 붙였습니다. 둘째, 수어 자료가 3D인지 2D인지, 아직 확보하지 못했는지 상태를 구분해 보여줍니다.</a:t>
            </a:r>
          </a:p>
          <a:p>
            <a:r>
              <a:t>셋째, ‘다시 보기’로 수어 동작을 반복해서 볼 수 있고, 넷째, 추천 질문과 큰 글씨, 높은 대비로 누구나 쉽게 쓸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다음은 저희가 사용한 데이터입니다.</a:t>
            </a:r>
          </a:p>
          <a:p>
            <a:r>
              <a:t>안내 문장의 근거는 안전보건공단 KOSHA GUIDE에서 가져왔고, 수어 영상과 키포인트는 AI Hub의 재난 안전 수어 데이터를 사용했습니다.</a:t>
            </a:r>
          </a:p>
          <a:p>
            <a:r>
              <a:t>단어별 수어 표현은 국립국어원 한국수어사전으로, 실제 대화 속 표현은 국립국어원의 한국수어–한국어 병렬 말뭉치로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자료를 바탕으로 산업안전 안내 문장을 고르고, 문장마다 확보한 수어 표현을 연결했습니다.</a:t>
            </a:r>
          </a:p>
          <a:p>
            <a:r>
              <a:t>예를 들어 “쓰러지는 물체에 발을 다칠 위험이 있으면 안전화를 착용하세요”는 쓰러지다, 발가락, 상처, 보호, 운동화 같은 표현으로 연결했습니다.</a:t>
            </a:r>
          </a:p>
          <a:p>
            <a:r>
              <a:t>다만 ‘안전화’를 ‘보호+운동화’로 나타내는 것처럼 정확히 대응하는 수어가 없는 경우가 있어서, 오른쪽 칸에 추가로 확보하거나 의미를 검수해야 할 부분을 정리했습니다.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나머지 다섯 문장도 같은 방식으로 정리했습니다.</a:t>
            </a:r>
          </a:p>
          <a:p>
            <a:r>
              <a:t>정리한 결과는 문장별 키포인트 폴더와, 동작 순서와 파일 경로를 담은 sentence.json 파일로 구현팀에 전달했습니다.</a:t>
            </a:r>
          </a:p>
          <a:p>
            <a:r>
              <a:t>지금 자료는 확보한 표현을 기준으로 만든 구현 테스트용이며, 완성된 수어 번역은 아니라는 점을 함께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수어 동작을 어떻게 다루는지 설명드리겠습니다.</a:t>
            </a:r>
          </a:p>
          <a:p>
            <a:r>
              <a:t>수어 영상에서 사람의 몸, 손, 얼굴 위치를 점으로 읽어 냅니다. 이 점을 키포인트라고 하는데, 한 프레임마다 몸 25개, 양손 21개씩, 얼굴 70개, 모두 137개입니다.</a:t>
            </a:r>
          </a:p>
          <a:p>
            <a:r>
              <a:t>단어별로 뽑은 키포인트를 sentence.json에 적힌 순서대로 이어 붙이면, 3D 아바타가 안내 문장을 수어로 보여줄 수 있습니다.</a:t>
            </a:r>
          </a:p>
          <a:p>
            <a:r>
              <a:t>이번에 추가한 문장은 6개, 단어별 동작 파일은 33개입니다.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반대 방향도 구현했습니다. 사용자가 카메라 앞에서 수어로 질문하면, 그 동작을 인식해 질문으로 바꿉니다. 영상으로 보여드리겠습니다.</a:t>
            </a:r>
          </a:p>
          <a:p>
            <a:r>
              <a:t>[영상 재생 — 약 12초]</a:t>
            </a:r>
          </a:p>
          <a:p>
            <a:r>
              <a:t>지금 사용자가 카메라 앞에서 수어 동작을 하고 있습니다. 화면의 선과 점이 손, 몸, 얼굴 키포인트를 실시간으로 따라가는 모습입니다.</a:t>
            </a:r>
          </a:p>
          <a:p>
            <a:r>
              <a:t>시스템이 ‘도망’이라는 수어를 인식해 “대피소가 어디예요?”라는 질문으로 이해했습니다.</a:t>
            </a:r>
          </a:p>
          <a:p>
            <a:r>
              <a:t>답변으로는 아바타가 수어로 방향을 알려주고, 지도와 함께 남서쪽 550미터 경산동부초등학교 대피소를 안내합니다.</a:t>
            </a:r>
          </a:p>
          <a:p>
            <a:r>
              <a:t>이렇게 카메라 영상만으로 수어 동작을 인식할 수 있게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저희는 실제 사용자의 반응을 보기 위해 경산복지관을 방문했습니다.</a:t>
            </a:r>
          </a:p>
          <a:p>
            <a:r>
              <a:t>수어 이용자분들께 앱을 직접 보여드리고, 수어로 묻는 화면을 함께 확인했습니다.</a:t>
            </a:r>
          </a:p>
          <a:p>
            <a:r>
              <a:t>직접 조작해 보시도록 옆에서 도우면서 어떻게 사용하시는지 관찰했고, 서비스가 어떤 구조로 답을 만드는지도 설명드렸습니다.</a:t>
            </a:r>
          </a:p>
          <a:p>
            <a:r>
              <a:t>마지막으로 이 서비스가 생활에 어떤 도움이 될지, 기대효과를 함께 이야기 나눴습니다.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앞으로의 계획입니다.</a:t>
            </a:r>
          </a:p>
          <a:p>
            <a:r>
              <a:t>첫째, 지금까지의 설계와 수어 인식 결과를 논문으로 정리하고 있습니다.</a:t>
            </a:r>
          </a:p>
          <a:p>
            <a:r>
              <a:t>둘째, 청각장애인 복지시설을 추가로 방문해, 실제 사용자분들과 함께 파일럿 테스트를 진행하겠습니다.</a:t>
            </a:r>
          </a:p>
          <a:p>
            <a:r>
              <a:t>셋째, 테스트에서 나온 의견과 결과를 바탕으로 수어 인식 정확도와 수어 데이터를 보완하겠습니다.</a:t>
            </a:r>
          </a:p>
          <a:p>
            <a:r>
              <a:t>최종적으로는 청각장애인 근로자가 현장에서 안전 정보를 수어로 묻고 답할 수 있는, 완성된 서비스로 제작하는 것을 목표로 하고 있습니다.</a:t>
            </a:r>
          </a:p>
          <a:p>
            <a:r>
              <a:t>들어주셔서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gif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자료를 모았습니다.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안내 문장마다 수어 표현을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71107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나머지 문장도 같은 방식으로 연결했습니다.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692783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727573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6108573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수어 영상을 키포인트 동작으로 바꿉니다.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순서대로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4975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4231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이번에 추가한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추가 문장의 단어별 동작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30352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몸·손·얼굴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카메라로 수어 질문을 인식합니다.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카메라 영상만으로 수어 동작을 실시간 인식할 수 있게 했습니다.</a:t>
            </a:r>
          </a:p>
        </p:txBody>
      </p:sp>
      <p:sp>
        <p:nvSpPr>
          <p:cNvPr id="12" name="시연 단계 1"/>
          <p:cNvSpPr/>
          <p:nvPr/>
        </p:nvSpPr>
        <p:spPr>
          <a:xfrm>
            <a:off x="7625182" y="2240280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1  </a:t>
            </a:r>
            <a:r>
              <a:rPr lang="ko-KR" altLang="en-US" sz="1600" b="1" dirty="0">
                <a:solidFill>
                  <a:srgbClr val="FFFFFF"/>
                </a:solidFill>
              </a:rPr>
              <a:t>수어로 질문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카메라 앞에서 수어 동작을 합니다.</a:t>
            </a:r>
          </a:p>
        </p:txBody>
      </p:sp>
      <p:sp>
        <p:nvSpPr>
          <p:cNvPr id="13" name="시연 단계 2"/>
          <p:cNvSpPr/>
          <p:nvPr/>
        </p:nvSpPr>
        <p:spPr>
          <a:xfrm>
            <a:off x="7625182" y="3263265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2  </a:t>
            </a:r>
            <a:r>
              <a:rPr lang="ko-KR" altLang="en-US" sz="1600" b="1" dirty="0">
                <a:solidFill>
                  <a:srgbClr val="FFFFFF"/>
                </a:solidFill>
              </a:rPr>
              <a:t>동작 추적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손·몸·얼굴 키포인트를 실시간으로 따라갑니다.</a:t>
            </a:r>
          </a:p>
        </p:txBody>
      </p:sp>
      <p:sp>
        <p:nvSpPr>
          <p:cNvPr id="14" name="시연 단계 3"/>
          <p:cNvSpPr/>
          <p:nvPr/>
        </p:nvSpPr>
        <p:spPr>
          <a:xfrm>
            <a:off x="7625182" y="4286250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3  </a:t>
            </a:r>
            <a:r>
              <a:rPr lang="ko-KR" altLang="en-US" sz="1600" b="1" dirty="0">
                <a:solidFill>
                  <a:srgbClr val="FFFFFF"/>
                </a:solidFill>
              </a:rPr>
              <a:t>의미 인식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‘도망’을 인식해 “대피소가 어디예요?”로 이해합니다.</a:t>
            </a:r>
          </a:p>
        </p:txBody>
      </p:sp>
      <p:sp>
        <p:nvSpPr>
          <p:cNvPr id="15" name="시연 단계 4"/>
          <p:cNvSpPr/>
          <p:nvPr/>
        </p:nvSpPr>
        <p:spPr>
          <a:xfrm>
            <a:off x="7625182" y="5309235"/>
            <a:ext cx="3759098" cy="931545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46304" tIns="146304" rIns="146304" bIns="146304" anchor="ctr">
            <a:norm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4  </a:t>
            </a:r>
            <a:r>
              <a:rPr lang="ko-KR" altLang="en-US" sz="1600" b="1" dirty="0">
                <a:solidFill>
                  <a:srgbClr val="FFFFFF"/>
                </a:solidFill>
              </a:rPr>
              <a:t>답변 안내</a:t>
            </a:r>
          </a:p>
          <a:p>
            <a:pPr algn="l"/>
            <a:r>
              <a:rPr lang="ko-KR" altLang="en-US" sz="1300" b="0" dirty="0">
                <a:solidFill>
                  <a:srgbClr val="E5E5EA"/>
                </a:solidFill>
              </a:rPr>
              <a:t>아바타 수어와 지도로 남서쪽 550미터 경산동부초등학교를 안내합니다.</a:t>
            </a:r>
          </a:p>
        </p:txBody>
      </p:sp>
      <p:pic>
        <p:nvPicPr>
          <p:cNvPr id="16" name="수어 인식 시연 영상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2901" y="2240280"/>
            <a:ext cx="64008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12067" fill="hold"/>
                                  <p:tgtEl>
                                    <p:spTgt spid="16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복지관에서 수어 이용자와 시연했습니다.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경산복지관을 방문해 수어 이용자분들께 앱을 직접 보여드리고 반응을 살폈습니다.</a:t>
            </a:r>
          </a:p>
        </p:txBody>
      </p:sp>
      <p:sp>
        <p:nvSpPr>
          <p:cNvPr id="12" name="사진 설명 1"/>
          <p:cNvSpPr txBox="1"/>
          <p:nvPr/>
        </p:nvSpPr>
        <p:spPr>
          <a:xfrm>
            <a:off x="812902" y="4009073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rgbClr val="A1A1A6"/>
                </a:solidFill>
              </a:rPr>
              <a:t>01  </a:t>
            </a:r>
            <a:r>
              <a:rPr lang="ko-KR" altLang="en-US" sz="1200" b="0" dirty="0">
                <a:solidFill>
                  <a:srgbClr val="E5E5EA"/>
                </a:solidFill>
              </a:rPr>
              <a:t>수어 이용자에게 앱 시연</a:t>
            </a:r>
          </a:p>
        </p:txBody>
      </p:sp>
      <p:sp>
        <p:nvSpPr>
          <p:cNvPr id="13" name="사진 설명 2"/>
          <p:cNvSpPr txBox="1"/>
          <p:nvPr/>
        </p:nvSpPr>
        <p:spPr>
          <a:xfrm>
            <a:off x="4241902" y="4009073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rgbClr val="A1A1A6"/>
                </a:solidFill>
              </a:rPr>
              <a:t>02  </a:t>
            </a:r>
            <a:r>
              <a:rPr lang="ko-KR" altLang="en-US" sz="1200" b="0" dirty="0">
                <a:solidFill>
                  <a:srgbClr val="E5E5EA"/>
                </a:solidFill>
              </a:rPr>
              <a:t>묻기 화면을 함께 확인</a:t>
            </a:r>
          </a:p>
        </p:txBody>
      </p:sp>
      <p:sp>
        <p:nvSpPr>
          <p:cNvPr id="14" name="사진 설명 3"/>
          <p:cNvSpPr txBox="1"/>
          <p:nvPr/>
        </p:nvSpPr>
        <p:spPr>
          <a:xfrm>
            <a:off x="7670902" y="4009073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rgbClr val="A1A1A6"/>
                </a:solidFill>
              </a:rPr>
              <a:t>03  </a:t>
            </a:r>
            <a:r>
              <a:rPr lang="ko-KR" altLang="en-US" sz="1200" b="0" dirty="0">
                <a:solidFill>
                  <a:srgbClr val="E5E5EA"/>
                </a:solidFill>
              </a:rPr>
              <a:t>조작을 도우며 사용 관찰</a:t>
            </a:r>
          </a:p>
        </p:txBody>
      </p:sp>
      <p:sp>
        <p:nvSpPr>
          <p:cNvPr id="15" name="사진 설명 4"/>
          <p:cNvSpPr txBox="1"/>
          <p:nvPr/>
        </p:nvSpPr>
        <p:spPr>
          <a:xfrm>
            <a:off x="812902" y="6143625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rgbClr val="A1A1A6"/>
                </a:solidFill>
              </a:rPr>
              <a:t>04  </a:t>
            </a:r>
            <a:r>
              <a:rPr lang="ko-KR" altLang="en-US" sz="1200" b="0" dirty="0">
                <a:solidFill>
                  <a:srgbClr val="E5E5EA"/>
                </a:solidFill>
              </a:rPr>
              <a:t>에이전트 구조 설명</a:t>
            </a:r>
          </a:p>
        </p:txBody>
      </p:sp>
      <p:sp>
        <p:nvSpPr>
          <p:cNvPr id="16" name="사진 설명 5"/>
          <p:cNvSpPr txBox="1"/>
          <p:nvPr/>
        </p:nvSpPr>
        <p:spPr>
          <a:xfrm>
            <a:off x="4241902" y="6143625"/>
            <a:ext cx="3063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1" dirty="0">
                <a:solidFill>
                  <a:srgbClr val="A1A1A6"/>
                </a:solidFill>
              </a:rPr>
              <a:t>05  </a:t>
            </a:r>
            <a:r>
              <a:rPr lang="ko-KR" altLang="en-US" sz="1200" b="0" dirty="0">
                <a:solidFill>
                  <a:srgbClr val="E5E5EA"/>
                </a:solidFill>
              </a:rPr>
              <a:t>기대효과를 함께 이야기</a:t>
            </a:r>
          </a:p>
        </p:txBody>
      </p:sp>
      <p:sp>
        <p:nvSpPr>
          <p:cNvPr id="17" name="시연 요약"/>
          <p:cNvSpPr/>
          <p:nvPr/>
        </p:nvSpPr>
        <p:spPr>
          <a:xfrm>
            <a:off x="7670902" y="4374833"/>
            <a:ext cx="3063240" cy="1723073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182880" tIns="182880" rIns="182880" bIns="18288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현장에서 확인한 것</a:t>
            </a:r>
          </a:p>
          <a:p>
            <a:pPr algn="l"/>
            <a:r>
              <a:rPr lang="ko-KR" altLang="en-US" sz="1400" b="0" dirty="0">
                <a:solidFill>
                  <a:srgbClr val="FFFFFF"/>
                </a:solidFill>
              </a:rPr>
              <a:t>수어 이용자가 직접 써 보는 모습을 관찰하고, 서비스 방향과 기대효과를 함께 이야기했습니다.</a:t>
            </a:r>
          </a:p>
        </p:txBody>
      </p:sp>
      <p:pic>
        <p:nvPicPr>
          <p:cNvPr id="18" name="시연 사진 1" descr="01_경산복지관_수어이용자에게_앱시연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" y="2240280"/>
            <a:ext cx="3063240" cy="1723072"/>
          </a:xfrm>
          <a:prstGeom prst="rect">
            <a:avLst/>
          </a:prstGeom>
        </p:spPr>
      </p:pic>
      <p:pic>
        <p:nvPicPr>
          <p:cNvPr id="19" name="시연 사진 2" descr="02_경산복지관_묻기화면_함께확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901" y="2240280"/>
            <a:ext cx="3063240" cy="1723072"/>
          </a:xfrm>
          <a:prstGeom prst="rect">
            <a:avLst/>
          </a:prstGeom>
        </p:spPr>
      </p:pic>
      <p:pic>
        <p:nvPicPr>
          <p:cNvPr id="20" name="시연 사진 3" descr="03_경산복지관_조작도우며_관찰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0901" y="2240280"/>
            <a:ext cx="3063240" cy="1723072"/>
          </a:xfrm>
          <a:prstGeom prst="rect">
            <a:avLst/>
          </a:prstGeom>
        </p:spPr>
      </p:pic>
      <p:pic>
        <p:nvPicPr>
          <p:cNvPr id="21" name="시연 사진 4" descr="04_복지관_에이전트구조_설명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" y="4374832"/>
            <a:ext cx="3063240" cy="1723072"/>
          </a:xfrm>
          <a:prstGeom prst="rect">
            <a:avLst/>
          </a:prstGeom>
        </p:spPr>
      </p:pic>
      <p:pic>
        <p:nvPicPr>
          <p:cNvPr id="22" name="시연 사진 5" descr="05_복지관_기대효과_함께이야기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901" y="4374832"/>
            <a:ext cx="3063240" cy="172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 dirty="0">
                <a:solidFill>
                  <a:srgbClr val="FFFFFF"/>
                </a:solidFill>
              </a:rPr>
              <a:t>현장 검증으로 서비스를 완성하겠습니다.</a:t>
            </a:r>
            <a:endParaRPr sz="42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69164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논문 작성부터 현장 파일럿 테스트까지, 실제 사용자와 함께 서비스를 다듬어 가겠습니다.</a:t>
            </a:r>
          </a:p>
        </p:txBody>
      </p:sp>
      <p:sp>
        <p:nvSpPr>
          <p:cNvPr id="12" name="단계 연결선"/>
          <p:cNvSpPr/>
          <p:nvPr/>
        </p:nvSpPr>
        <p:spPr>
          <a:xfrm>
            <a:off x="1096366" y="3429000"/>
            <a:ext cx="7928534" cy="18288"/>
          </a:xfrm>
          <a:prstGeom prst="rect">
            <a:avLst/>
          </a:prstGeom>
          <a:solidFill>
            <a:srgbClr val="40404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endParaRPr lang="ko-KR"/>
          </a:p>
        </p:txBody>
      </p:sp>
      <p:sp>
        <p:nvSpPr>
          <p:cNvPr id="13" name="단계 01 표시"/>
          <p:cNvSpPr/>
          <p:nvPr/>
        </p:nvSpPr>
        <p:spPr>
          <a:xfrm>
            <a:off x="812902" y="315468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1400" b="1" dirty="0">
                <a:solidFill>
                  <a:srgbClr val="000000"/>
                </a:solidFill>
              </a:rPr>
              <a:t>01</a:t>
            </a:r>
          </a:p>
        </p:txBody>
      </p:sp>
      <p:sp>
        <p:nvSpPr>
          <p:cNvPr id="14" name="단계 01 상태"/>
          <p:cNvSpPr txBox="1"/>
          <p:nvPr/>
        </p:nvSpPr>
        <p:spPr>
          <a:xfrm>
            <a:off x="812902" y="26517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FFFFFF"/>
                </a:solidFill>
              </a:rPr>
              <a:t>진행 중</a:t>
            </a:r>
          </a:p>
        </p:txBody>
      </p:sp>
      <p:sp>
        <p:nvSpPr>
          <p:cNvPr id="15" name="단계 01 내용"/>
          <p:cNvSpPr txBox="1"/>
          <p:nvPr/>
        </p:nvSpPr>
        <p:spPr>
          <a:xfrm>
            <a:off x="812902" y="3995928"/>
            <a:ext cx="2322805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논문 작성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이음의 설계와 수어 인식 결과를 논문으로 정리하고 있습니다.</a:t>
            </a:r>
          </a:p>
        </p:txBody>
      </p:sp>
      <p:sp>
        <p:nvSpPr>
          <p:cNvPr id="16" name="단계 02 표시"/>
          <p:cNvSpPr/>
          <p:nvPr/>
        </p:nvSpPr>
        <p:spPr>
          <a:xfrm>
            <a:off x="3455746" y="3154680"/>
            <a:ext cx="566928" cy="566928"/>
          </a:xfrm>
          <a:prstGeom prst="ellipse">
            <a:avLst/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7" name="단계 02 상태"/>
          <p:cNvSpPr txBox="1"/>
          <p:nvPr/>
        </p:nvSpPr>
        <p:spPr>
          <a:xfrm>
            <a:off x="3455746" y="26517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A1A1A6"/>
                </a:solidFill>
              </a:rPr>
              <a:t>계획</a:t>
            </a:r>
          </a:p>
        </p:txBody>
      </p:sp>
      <p:sp>
        <p:nvSpPr>
          <p:cNvPr id="18" name="단계 02 내용"/>
          <p:cNvSpPr txBox="1"/>
          <p:nvPr/>
        </p:nvSpPr>
        <p:spPr>
          <a:xfrm>
            <a:off x="3455746" y="3995928"/>
            <a:ext cx="2322805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파일럿 테스트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청각장애인 복지시설을 추가로 방문해 실제 사용자와 함께 시험합니다.</a:t>
            </a:r>
          </a:p>
        </p:txBody>
      </p:sp>
      <p:sp>
        <p:nvSpPr>
          <p:cNvPr id="19" name="단계 03 표시"/>
          <p:cNvSpPr/>
          <p:nvPr/>
        </p:nvSpPr>
        <p:spPr>
          <a:xfrm>
            <a:off x="6098591" y="3154680"/>
            <a:ext cx="566928" cy="566928"/>
          </a:xfrm>
          <a:prstGeom prst="ellipse">
            <a:avLst/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단계 03 상태"/>
          <p:cNvSpPr txBox="1"/>
          <p:nvPr/>
        </p:nvSpPr>
        <p:spPr>
          <a:xfrm>
            <a:off x="6098591" y="26517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A1A1A6"/>
                </a:solidFill>
              </a:rPr>
              <a:t>계획</a:t>
            </a:r>
          </a:p>
        </p:txBody>
      </p:sp>
      <p:sp>
        <p:nvSpPr>
          <p:cNvPr id="21" name="단계 03 내용"/>
          <p:cNvSpPr txBox="1"/>
          <p:nvPr/>
        </p:nvSpPr>
        <p:spPr>
          <a:xfrm>
            <a:off x="6098591" y="3995928"/>
            <a:ext cx="2322805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성능 개선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테스트 결과를 바탕으로 수어 인식 정확도와 수어 데이터를 보완합니다.</a:t>
            </a:r>
          </a:p>
        </p:txBody>
      </p:sp>
      <p:sp>
        <p:nvSpPr>
          <p:cNvPr id="22" name="단계 04 표시"/>
          <p:cNvSpPr/>
          <p:nvPr/>
        </p:nvSpPr>
        <p:spPr>
          <a:xfrm>
            <a:off x="8741435" y="3154680"/>
            <a:ext cx="566928" cy="566928"/>
          </a:xfrm>
          <a:prstGeom prst="ellipse">
            <a:avLst/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3" name="단계 04 상태"/>
          <p:cNvSpPr txBox="1"/>
          <p:nvPr/>
        </p:nvSpPr>
        <p:spPr>
          <a:xfrm>
            <a:off x="8741435" y="26517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A1A1A6"/>
                </a:solidFill>
              </a:rPr>
              <a:t>목표</a:t>
            </a:r>
          </a:p>
        </p:txBody>
      </p:sp>
      <p:sp>
        <p:nvSpPr>
          <p:cNvPr id="24" name="단계 04 내용"/>
          <p:cNvSpPr txBox="1"/>
          <p:nvPr/>
        </p:nvSpPr>
        <p:spPr>
          <a:xfrm>
            <a:off x="8741435" y="3995928"/>
            <a:ext cx="2322805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서비스 완성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현장에서 바로 쓸 수 있는 완성된 서비스로 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