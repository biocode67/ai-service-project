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안녕하십니까. 저희 팀이 만든 서비스는 ‘이음’입니다.</a:t>
            </a:r>
          </a:p>
          <a:p>
            <a:r>
              <a:t>산업 현장에서 일하는 청각장애인 근로자가 안전 정보를 수어로 바로 확인할 수 있도록 만든 안내 서비스입니다.</a:t>
            </a:r>
          </a:p>
          <a:p>
            <a:r>
              <a:t>예를 들어 작업자가 “보호구는 어떻게 관리해요?”라고 질문을 입력하면, 이음이 어떻게 답하는지 순서대로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질문이 들어오면 이음은 먼저 공식 규정에서 답변 근거를 찾습니다.</a:t>
            </a:r>
          </a:p>
          <a:p>
            <a:r>
              <a:t>기준 자료는 안전보건공단의 KOSHA GUIDE, 「개인보호구의 사용 및 관리에 관한 기술지원규정」입니다.</a:t>
            </a:r>
          </a:p>
          <a:p>
            <a:r>
              <a:t>보호구 관리 질문이라면 이 규정의 5쪽과 23쪽에서 관련 조항을 찾아, 답변 아래 출처 카드로 함께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찾은 근거의 양에 따라 답변 방식이 세 가지로 나뉩니다.</a:t>
            </a:r>
          </a:p>
          <a:p>
            <a:r>
              <a:t>미리 준비한 예상 질문이면 검수한 모범 답변을 그대로 보여줍니다.</a:t>
            </a:r>
          </a:p>
          <a:p>
            <a:r>
              <a:t>예상하지 못한 질문이면 수집한 규정 근거만 사용해 Claude가 답변을 만듭니다.</a:t>
            </a:r>
          </a:p>
          <a:p>
            <a:r>
              <a:t>그리고 점심 메뉴 추천처럼 규정에 근거가 없는 질문에는 답을 지어내지 않고, 관련 내용을 찾지 못했다고 솔직하게 안내합니다. 안전 정보이기 때문에 틀린 답보다 ‘모른다’가 낫다고 판단했습니다.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이렇게 만든 답변은 단어 단위로 나눕니다.</a:t>
            </a:r>
          </a:p>
          <a:p>
            <a:r>
              <a:t>흰색으로 표시된 단어는 수어 데이터가 있는 단어이고, 회색은 아직 데이터가 없는 단어입니다.</a:t>
            </a:r>
          </a:p>
          <a:p>
            <a:r>
              <a:t>데이터가 있는 단어를 순서대로 이어서 3D 아바타가 수어로 보여줍니다. 어떤 단어가 수어로 표현됐고 어떤 단어가 빠졌는지 사용자가 한눈에 알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전체 화면입니다. 질문, 답변, 수어 안내, 근거 확인을 한 화면에 담았습니다.</a:t>
            </a:r>
          </a:p>
          <a:p>
            <a:r>
              <a:t>왼쪽 위 ①번에서 작업 중 궁금한 내용을 자연어로 입력하고, ②번 추천 질문으로 자주 묻는 내용을 바로 고를 수도 있습니다.</a:t>
            </a:r>
          </a:p>
          <a:p>
            <a:r>
              <a:t>③번에서는 3D 아바타가 답변을 수어로 보여주고, ④번에서 답변과 함께 근거가 된 규정 문서를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화면을 설계할 때는 신뢰성과 접근성, 두 가지를 함께 고려했습니다.</a:t>
            </a:r>
          </a:p>
          <a:p>
            <a:r>
              <a:t>첫째, 모든 답변에 법령과 규정 근거를 붙였습니다. 둘째, 수어 자료가 3D인지 2D인지, 아직 확보하지 못했는지 상태를 구분해 보여줍니다.</a:t>
            </a:r>
          </a:p>
          <a:p>
            <a:r>
              <a:t>셋째, ‘다시 보기’로 수어 동작을 반복해서 볼 수 있고, 넷째, 추천 질문과 큰 글씨, 높은 대비로 누구나 쉽게 쓸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다음은 저희가 사용한 데이터입니다.</a:t>
            </a:r>
          </a:p>
          <a:p>
            <a:r>
              <a:t>안내 문장의 근거는 안전보건공단 KOSHA GUIDE에서 가져왔고, 수어 영상과 키포인트는 AI Hub의 재난 안전 수어 데이터를 사용했습니다.</a:t>
            </a:r>
          </a:p>
          <a:p>
            <a:r>
              <a:t>단어별 수어 표현은 국립국어원 한국수어사전으로, 실제 대화 속 표현은 국립국어원의 한국수어–한국어 병렬 말뭉치로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자료를 바탕으로 산업안전 안내 문장을 고르고, 문장마다 확보한 수어 표현을 연결했습니다.</a:t>
            </a:r>
          </a:p>
          <a:p>
            <a:r>
              <a:t>예를 들어 “쓰러지는 물체에 발을 다칠 위험이 있으면 안전화를 착용하세요”는 쓰러지다, 발가락, 상처, 보호, 운동화 같은 표현으로 연결했습니다.</a:t>
            </a:r>
          </a:p>
          <a:p>
            <a:r>
              <a:t>다만 ‘안전화’를 ‘보호+운동화’로 나타내는 것처럼 정확히 대응하는 수어가 없는 경우가 있어서, 오른쪽 칸에 추가로 확보하거나 의미를 검수해야 할 부분을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나머지 다섯 문장도 같은 방식으로 정리했습니다.</a:t>
            </a:r>
          </a:p>
          <a:p>
            <a:r>
              <a:t>정리한 결과는 문장별 키포인트 폴더와, 동작 순서와 파일 경로를 담은 sentence.json 파일로 구현팀에 전달했습니다.</a:t>
            </a:r>
          </a:p>
          <a:p>
            <a:r>
              <a:t>지금 자료는 확보한 표현을 기준으로 만든 구현 테스트용이며, 완성된 수어 번역은 아니라는 점을 함께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수어 동작을 어떻게 다루는지 설명드리겠습니다.</a:t>
            </a:r>
          </a:p>
          <a:p>
            <a:r>
              <a:t>수어 영상에서 사람의 몸, 손, 얼굴 위치를 점으로 읽어 냅니다. 이 점을 키포인트라고 하는데, 한 프레임마다 몸 25개, 양손 21개씩, 얼굴 70개, 모두 137개입니다.</a:t>
            </a:r>
          </a:p>
          <a:p>
            <a:r>
              <a:t>단어별로 뽑은 키포인트를 sentence.json에 적힌 순서대로 이어 붙이면, 3D 아바타가 안내 문장을 수어로 보여줄 수 있습니다.</a:t>
            </a:r>
          </a:p>
          <a:p>
            <a:r>
              <a:t>이번에 추가한 문장은 6개, 단어별 동작 파일은 33개입니다.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반대 방향도 구현했습니다. 사용자가 카메라 앞에서 수어로 질문하면, 그 동작을 인식해 질문으로 바꿉니다. 영상으로 보여드리겠습니다.</a:t>
            </a:r>
          </a:p>
          <a:p>
            <a:r>
              <a:t>[영상 재생 — 약 18초]</a:t>
            </a:r>
          </a:p>
          <a:p>
            <a:r>
              <a:t>지금 사용자가 카메라 앞에서 수어 동작을 하고 있습니다. 화면의 선과 점이 손, 몸, 얼굴 키포인트를 실시간으로 따라가는 모습입니다.</a:t>
            </a:r>
          </a:p>
          <a:p>
            <a:r>
              <a:t>시스템이 ‘도망’이라는 수어를 인식해 “대피소가 어디예요?”라는 질문으로 이해했습니다.</a:t>
            </a:r>
          </a:p>
          <a:p>
            <a:r>
              <a:t>답변으로는 아바타가 수어로 방향을 알려주고, 지도와 함께 남서쪽 550미터 경산동부초등학교 대피소를 안내합니다.</a:t>
            </a:r>
          </a:p>
          <a:p>
            <a:r>
              <a:t>이렇게 카메라 영상만으로 수어 동작을 인식할 수 있게 했습니다.</a:t>
            </a:r>
          </a:p>
          <a:p>
            <a:r>
              <a:t>이음은 앞으로 수어 데이터를 더 확보하고 검수해서, 청각장애인 근로자가 안전 정보를 수어로 묻고 답할 수 있는 서비스로 발전시키겠습니다.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gif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자료를 모았습니다.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안내 문장마다 수어 표현을 연결했습니다.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71107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나머지 문장도 같은 방식으로 연결했습니다.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692783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727573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6108573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수어 영상을 키포인트 동작으로 바꿉니다.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순서대로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이번에 추가한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추가 문장의 단어별 동작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몸·손·얼굴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카메라로 수어 질문을 인식합니다.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영상 설명"/>
          <p:cNvSpPr txBox="1"/>
          <p:nvPr/>
        </p:nvSpPr>
        <p:spPr>
          <a:xfrm>
            <a:off x="812902" y="6030468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카메라 영상만으로 수어 동작을 실시간 인식할 수 있게 했습니다.</a:t>
            </a:r>
          </a:p>
        </p:txBody>
      </p:sp>
      <p:sp>
        <p:nvSpPr>
          <p:cNvPr id="12" name="시연 단계 1"/>
          <p:cNvSpPr/>
          <p:nvPr/>
        </p:nvSpPr>
        <p:spPr>
          <a:xfrm>
            <a:off x="7990942" y="1691640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1  </a:t>
            </a:r>
            <a:r>
              <a:rPr lang="ko-KR" altLang="en-US" sz="1600" b="1" dirty="0">
                <a:solidFill>
                  <a:srgbClr val="FFFFFF"/>
                </a:solidFill>
              </a:rPr>
              <a:t>수어로 질문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카메라 앞에서 수어 동작을 합니다.</a:t>
            </a:r>
          </a:p>
        </p:txBody>
      </p:sp>
      <p:sp>
        <p:nvSpPr>
          <p:cNvPr id="13" name="시연 단계 2"/>
          <p:cNvSpPr/>
          <p:nvPr/>
        </p:nvSpPr>
        <p:spPr>
          <a:xfrm>
            <a:off x="7990942" y="2771775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2  </a:t>
            </a:r>
            <a:r>
              <a:rPr lang="ko-KR" altLang="en-US" sz="1600" b="1" dirty="0">
                <a:solidFill>
                  <a:srgbClr val="FFFFFF"/>
                </a:solidFill>
              </a:rPr>
              <a:t>동작 추적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손·몸·얼굴 키포인트를 실시간으로 따라갑니다.</a:t>
            </a:r>
          </a:p>
        </p:txBody>
      </p:sp>
      <p:sp>
        <p:nvSpPr>
          <p:cNvPr id="14" name="시연 단계 3"/>
          <p:cNvSpPr/>
          <p:nvPr/>
        </p:nvSpPr>
        <p:spPr>
          <a:xfrm>
            <a:off x="7990942" y="3851910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3  </a:t>
            </a:r>
            <a:r>
              <a:rPr lang="ko-KR" altLang="en-US" sz="1600" b="1" dirty="0">
                <a:solidFill>
                  <a:srgbClr val="FFFFFF"/>
                </a:solidFill>
              </a:rPr>
              <a:t>의미 인식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‘도망’을 인식해 “대피소가 어디예요?”로 이해합니다.</a:t>
            </a:r>
          </a:p>
        </p:txBody>
      </p:sp>
      <p:sp>
        <p:nvSpPr>
          <p:cNvPr id="15" name="시연 단계 4"/>
          <p:cNvSpPr/>
          <p:nvPr/>
        </p:nvSpPr>
        <p:spPr>
          <a:xfrm>
            <a:off x="7990942" y="4932045"/>
            <a:ext cx="3393338" cy="98869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4  </a:t>
            </a:r>
            <a:r>
              <a:rPr lang="ko-KR" altLang="en-US" sz="1600" b="1" dirty="0">
                <a:solidFill>
                  <a:srgbClr val="FFFFFF"/>
                </a:solidFill>
              </a:rPr>
              <a:t>답변 안내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아바타 수어와 지도로 남서쪽 550미터 경산동부초등학교를 안내합니다.</a:t>
            </a:r>
          </a:p>
        </p:txBody>
      </p:sp>
      <p:pic>
        <p:nvPicPr>
          <p:cNvPr id="16" name="수어 인식 시연 영상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12901" y="1691640"/>
            <a:ext cx="676656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8000" fill="hold"/>
                                  <p:tgtEl>
                                    <p:spTgt spid="16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