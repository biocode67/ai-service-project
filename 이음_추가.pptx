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1"/>
  </p:notesMasterIdLst>
  <p:sldIdLst>
    <p:sldId id="256" r:id="rId2"/>
    <p:sldId id="263" r:id="rId3"/>
    <p:sldId id="257" r:id="rId4"/>
    <p:sldId id="258" r:id="rId5"/>
    <p:sldId id="259" r:id="rId6"/>
    <p:sldId id="262" r:id="rId7"/>
    <p:sldId id="260" r:id="rId8"/>
    <p:sldId id="261" r:id="rId9"/>
    <p:sldId id="266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84" d="100"/>
          <a:sy n="84" d="100"/>
        </p:scale>
        <p:origin x="552" y="77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5282F153-3F37-0F45-9E97-73ACFA13230C}" type="datetime1">
              <a:rPr lang="en-US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 lang="en-US"/>
              <a:t>Click to edit Master text styles</a:t>
            </a:r>
          </a:p>
          <a:p>
            <a:pPr lvl="1">
              <a:defRPr/>
            </a:pPr>
            <a:r>
              <a:rPr lang="en-US"/>
              <a:t>Second level</a:t>
            </a:r>
          </a:p>
          <a:p>
            <a:pPr lvl="2">
              <a:defRPr/>
            </a:pPr>
            <a:r>
              <a:rPr lang="en-US"/>
              <a:t>Third level</a:t>
            </a:r>
          </a:p>
          <a:p>
            <a:pPr lvl="3">
              <a:defRPr/>
            </a:pPr>
            <a:r>
              <a:rPr lang="en-US"/>
              <a:t>Fourth level</a:t>
            </a:r>
          </a:p>
          <a:p>
            <a:pPr lvl="4">
              <a:defRPr/>
            </a:pPr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61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730970"/>
            <a:ext cx="10566400" cy="4314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566400" cy="613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15000"/>
              </a:lnSpc>
              <a:buNone/>
              <a:defRPr lang="en-US" sz="4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15000"/>
              </a:lnSpc>
              <a:buNone/>
            </a:pPr>
            <a:endParaRPr lang="en-US" sz="420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01"/>
          </p:nvPr>
        </p:nvSpPr>
        <p:spPr>
          <a:xfrm>
            <a:off x="812800" y="1730970"/>
            <a:ext cx="10566400" cy="43142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marL="0" indent="0" algn="l">
              <a:lnSpc>
                <a:spcPct val="140000"/>
              </a:lnSpc>
              <a:buNone/>
              <a:def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defRPr>
            </a:lvl1pPr>
          </a:lstStyle>
          <a:p>
            <a:pPr marL="0" indent="0" algn="l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12.gif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질문을 입력하면,</a:t>
            </a:r>
            <a:endParaRPr lang="en-US" sz="420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654304" y="2159000"/>
            <a:ext cx="10883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8800"/>
              </a:lnSpc>
              <a:buNone/>
            </a:pPr>
            <a:r>
              <a:rPr lang="en-US" sz="8000" b="1" i="0" kern="0" spc="-2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이음</a:t>
            </a:r>
            <a:endParaRPr lang="en-US" sz="8000" dirty="0"/>
          </a:p>
        </p:txBody>
      </p:sp>
      <p:sp>
        <p:nvSpPr>
          <p:cNvPr id="4" name="Shape 2"/>
          <p:cNvSpPr/>
          <p:nvPr/>
        </p:nvSpPr>
        <p:spPr>
          <a:xfrm>
            <a:off x="1905000" y="3536950"/>
            <a:ext cx="8382000" cy="800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2260600" y="3705870"/>
            <a:ext cx="4375071" cy="487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40"/>
              </a:lnSpc>
              <a:buNone/>
            </a:pPr>
            <a:r>
              <a:rPr lang="en-US" sz="26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 어떻게 관리해요?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9582150" y="3632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1D1D1F"/>
          </a:solidFill>
          <a:ln/>
        </p:spPr>
      </p:sp>
      <p:pic>
        <p:nvPicPr>
          <p:cNvPr id="7" name="Image 0" descr="보내기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759950" y="3810000"/>
            <a:ext cx="254000" cy="254000"/>
          </a:xfrm>
          <a:prstGeom prst="rect">
            <a:avLst/>
          </a:prstGeom>
        </p:spPr>
      </p:pic>
      <p:pic>
        <p:nvPicPr>
          <p:cNvPr id="8" name="Image 1" descr="다음 장으로 이어지는 선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439400" y="3860800"/>
            <a:ext cx="17526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33607" y="282491"/>
            <a:ext cx="10724786" cy="6035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351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먼저 규정에서 답변 근거를 수집합니다.</a:t>
            </a:r>
            <a:endParaRPr lang="en-US" sz="4200" dirty="0"/>
          </a:p>
        </p:txBody>
      </p:sp>
      <p:pic>
        <p:nvPicPr>
          <p:cNvPr id="3" name="Image 0" descr="앞 장에서 이어지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3860800"/>
            <a:ext cx="2273300" cy="152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400300" y="2038350"/>
            <a:ext cx="2686050" cy="3797300"/>
          </a:xfrm>
          <a:prstGeom prst="roundRect">
            <a:avLst>
              <a:gd name="adj" fmla="val 5674"/>
            </a:avLst>
          </a:prstGeom>
          <a:solidFill>
            <a:srgbClr val="FFFFFF"/>
          </a:solidFill>
          <a:ln/>
        </p:spPr>
      </p:sp>
      <p:pic>
        <p:nvPicPr>
          <p:cNvPr id="5" name="Image 1" descr="KOSHA GUIDE 개인보호구의 사용 및 관리에 관한 기술지원규정 표지"/>
          <p:cNvPicPr>
            <a:picLocks noChangeAspect="1"/>
          </p:cNvPicPr>
          <p:nvPr/>
        </p:nvPicPr>
        <p:blipFill>
          <a:blip r:embed="rId4"/>
          <a:srcRect l="-237" r="-237"/>
          <a:stretch/>
        </p:blipFill>
        <p:spPr>
          <a:xfrm>
            <a:off x="2400300" y="2038350"/>
            <a:ext cx="2686050" cy="3797300"/>
          </a:xfrm>
          <a:prstGeom prst="roundRect">
            <a:avLst>
              <a:gd name="adj" fmla="val 5674"/>
            </a:avLst>
          </a:prstGeom>
        </p:spPr>
      </p:pic>
      <p:pic>
        <p:nvPicPr>
          <p:cNvPr id="6" name="Image 2" descr="화살표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226050" y="3860800"/>
            <a:ext cx="635000" cy="152400"/>
          </a:xfrm>
          <a:prstGeom prst="rect">
            <a:avLst/>
          </a:prstGeom>
        </p:spPr>
      </p:pic>
      <p:pic>
        <p:nvPicPr>
          <p:cNvPr id="7" name="Image 3" descr="답변 아래에 표시되는 출처 카드: 기술지원규정 5페이지와 23페이지 원문"/>
          <p:cNvPicPr>
            <a:picLocks noChangeAspect="1"/>
          </p:cNvPicPr>
          <p:nvPr/>
        </p:nvPicPr>
        <p:blipFill>
          <a:blip r:embed="rId6"/>
          <a:srcRect l="-156" r="-156"/>
          <a:stretch/>
        </p:blipFill>
        <p:spPr>
          <a:xfrm>
            <a:off x="6000750" y="2038350"/>
            <a:ext cx="3797300" cy="3797300"/>
          </a:xfrm>
          <a:prstGeom prst="rect">
            <a:avLst/>
          </a:prstGeom>
        </p:spPr>
      </p:pic>
      <p:pic>
        <p:nvPicPr>
          <p:cNvPr id="8" name="Image 4" descr="다음 장으로 이어지는 선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950450" y="3860800"/>
            <a:ext cx="224155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수집 정도에 따라 답변합니다.</a:t>
            </a:r>
            <a:endParaRPr lang="en-US" sz="4200" dirty="0"/>
          </a:p>
        </p:txBody>
      </p:sp>
      <p:pic>
        <p:nvPicPr>
          <p:cNvPr id="3" name="Image 0" descr="하나의 선이 세 갈래로 나뉘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2413000"/>
            <a:ext cx="2667000" cy="304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768473" y="2273300"/>
            <a:ext cx="1752854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질문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2768473" y="269240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모범 답변 출력</a:t>
            </a:r>
            <a:endParaRPr lang="en-US" sz="1500" dirty="0"/>
          </a:p>
        </p:txBody>
      </p:sp>
      <p:pic>
        <p:nvPicPr>
          <p:cNvPr id="6" name="Image 1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2540000"/>
            <a:ext cx="635000" cy="1524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410200" y="1930400"/>
            <a:ext cx="4953000" cy="1374130"/>
          </a:xfrm>
          <a:prstGeom prst="roundRect">
            <a:avLst>
              <a:gd name="adj" fmla="val 11091"/>
            </a:avLst>
          </a:prstGeom>
          <a:solidFill>
            <a:srgbClr val="FFFFFF"/>
          </a:solidFill>
          <a:ln/>
        </p:spPr>
      </p:sp>
      <p:sp>
        <p:nvSpPr>
          <p:cNvPr id="8" name="Text 4"/>
          <p:cNvSpPr/>
          <p:nvPr/>
        </p:nvSpPr>
        <p:spPr>
          <a:xfrm>
            <a:off x="5588000" y="20828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588000" y="2352030"/>
            <a:ext cx="4735322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 늘 사용할 수 있도록 관리하고 깨끗하게 유지해야 합니다. 사용하지 않을 때는 이상이 없는지 검사하고, 오염되지 않도록 건조하고 깨끗한 곳에 보관해야 합니다.</a:t>
            </a:r>
            <a:endParaRPr lang="en-US" sz="1400" dirty="0"/>
          </a:p>
        </p:txBody>
      </p:sp>
      <p:pic>
        <p:nvPicPr>
          <p:cNvPr id="10" name="Image 2" descr="다음 장으로 이어지는 선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15600" y="2540000"/>
            <a:ext cx="1676400" cy="1524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768473" y="3594100"/>
            <a:ext cx="1752854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밖 질문</a:t>
            </a:r>
            <a:endParaRPr lang="en-US" sz="2200" dirty="0"/>
          </a:p>
        </p:txBody>
      </p:sp>
      <p:sp>
        <p:nvSpPr>
          <p:cNvPr id="12" name="Text 7"/>
          <p:cNvSpPr/>
          <p:nvPr/>
        </p:nvSpPr>
        <p:spPr>
          <a:xfrm>
            <a:off x="2768473" y="401320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생성</a:t>
            </a:r>
            <a:endParaRPr lang="en-US" sz="1500" dirty="0"/>
          </a:p>
        </p:txBody>
      </p:sp>
      <p:pic>
        <p:nvPicPr>
          <p:cNvPr id="13" name="Image 3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3860800"/>
            <a:ext cx="635000" cy="1524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5410200" y="3505200"/>
            <a:ext cx="4953000" cy="840730"/>
          </a:xfrm>
          <a:prstGeom prst="roundRect">
            <a:avLst>
              <a:gd name="adj" fmla="val 18127"/>
            </a:avLst>
          </a:prstGeom>
          <a:solidFill>
            <a:srgbClr val="FFFFFF"/>
          </a:solidFill>
          <a:ln/>
        </p:spPr>
      </p:sp>
      <p:sp>
        <p:nvSpPr>
          <p:cNvPr id="15" name="Text 9"/>
          <p:cNvSpPr/>
          <p:nvPr/>
        </p:nvSpPr>
        <p:spPr>
          <a:xfrm>
            <a:off x="5588000" y="36576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16" name="Text 10"/>
          <p:cNvSpPr/>
          <p:nvPr/>
        </p:nvSpPr>
        <p:spPr>
          <a:xfrm>
            <a:off x="5588000" y="3926830"/>
            <a:ext cx="473532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수집한 근거로 답변 생성</a:t>
            </a:r>
            <a:endParaRPr lang="en-US" sz="1400" dirty="0"/>
          </a:p>
        </p:txBody>
      </p:sp>
      <p:pic>
        <p:nvPicPr>
          <p:cNvPr id="17" name="Image 4" descr="다음 장으로 이어지는 선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515600" y="3860800"/>
            <a:ext cx="1676400" cy="1524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2667000" y="4756150"/>
            <a:ext cx="1955800" cy="430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 근거 부족</a:t>
            </a:r>
            <a:endParaRPr lang="en-US" sz="2200" dirty="0"/>
          </a:p>
        </p:txBody>
      </p:sp>
      <p:sp>
        <p:nvSpPr>
          <p:cNvPr id="19" name="Text 12"/>
          <p:cNvSpPr/>
          <p:nvPr/>
        </p:nvSpPr>
        <p:spPr>
          <a:xfrm>
            <a:off x="2768473" y="5175250"/>
            <a:ext cx="1752854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175"/>
              </a:lnSpc>
              <a:buNone/>
            </a:pPr>
            <a:r>
              <a:rPr lang="en-US" sz="1500" dirty="0">
                <a:solidFill>
                  <a:srgbClr val="8686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점심 메뉴 추천</a:t>
            </a:r>
            <a:endParaRPr lang="en-US" sz="1500" dirty="0"/>
          </a:p>
        </p:txBody>
      </p:sp>
      <p:pic>
        <p:nvPicPr>
          <p:cNvPr id="20" name="Image 5" descr="화살표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35500" y="5022850"/>
            <a:ext cx="635000" cy="15240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5410200" y="4546600"/>
            <a:ext cx="4953000" cy="1107430"/>
          </a:xfrm>
          <a:prstGeom prst="roundRect">
            <a:avLst>
              <a:gd name="adj" fmla="val 13762"/>
            </a:avLst>
          </a:prstGeom>
          <a:solidFill>
            <a:srgbClr val="FFFFFF"/>
          </a:solidFill>
          <a:ln/>
        </p:spPr>
      </p:sp>
      <p:sp>
        <p:nvSpPr>
          <p:cNvPr id="22" name="Text 14"/>
          <p:cNvSpPr/>
          <p:nvPr/>
        </p:nvSpPr>
        <p:spPr>
          <a:xfrm>
            <a:off x="5588000" y="4699000"/>
            <a:ext cx="4735322" cy="256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6E6E7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</a:t>
            </a:r>
            <a:endParaRPr lang="en-US" sz="1300" dirty="0"/>
          </a:p>
        </p:txBody>
      </p:sp>
      <p:sp>
        <p:nvSpPr>
          <p:cNvPr id="23" name="Text 15"/>
          <p:cNvSpPr/>
          <p:nvPr/>
        </p:nvSpPr>
        <p:spPr>
          <a:xfrm>
            <a:off x="5588000" y="4968230"/>
            <a:ext cx="473532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개인보호구의 사용 및 관리에 관한 기술지원규정에서 관련 내용을 찾지 못했습니다.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812800" y="812800"/>
            <a:ext cx="10883392" cy="6387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30"/>
              </a:lnSpc>
              <a:buNone/>
            </a:pPr>
            <a:r>
              <a:rPr lang="en-US" sz="4200" b="1" i="0" kern="0" spc="-75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답변을 단어로, 단어를 수어로.</a:t>
            </a:r>
            <a:endParaRPr lang="en-US" sz="4200" dirty="0"/>
          </a:p>
        </p:txBody>
      </p:sp>
      <p:pic>
        <p:nvPicPr>
          <p:cNvPr id="3" name="Image 0" descr="두 갈래의 답변이 하나로 모이는 화살표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2540000"/>
            <a:ext cx="2222500" cy="1524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332881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보호구는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3253929" y="3327400"/>
            <a:ext cx="366812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늘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3684240" y="332740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사용할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441676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관리하고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362724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깨끗하게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283771" y="332740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유지해야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332881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사용하지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253929" y="3715990"/>
            <a:ext cx="530374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때는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847802" y="371599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605238" y="371599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없는지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362674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검사하고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283722" y="371599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오염되지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172123" y="410458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건조하고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4093170" y="4104580"/>
            <a:ext cx="693936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깨끗한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850606" y="4104580"/>
            <a:ext cx="530374" cy="325090"/>
          </a:xfrm>
          <a:prstGeom prst="roundRect">
            <a:avLst>
              <a:gd name="adj" fmla="val 19533"/>
            </a:avLst>
          </a:prstGeom>
          <a:solidFill>
            <a:srgbClr val="FFFFFF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곳에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444480" y="4104580"/>
            <a:ext cx="857548" cy="325090"/>
          </a:xfrm>
          <a:prstGeom prst="roundRect">
            <a:avLst>
              <a:gd name="adj" fmla="val 19533"/>
            </a:avLst>
          </a:prstGeom>
          <a:solidFill>
            <a:srgbClr val="C7C7CC"/>
          </a:solidFill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1D1D1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보관해야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055495" y="4699000"/>
            <a:ext cx="5363210" cy="614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2320"/>
              </a:lnSpc>
              <a:buNone/>
            </a:pPr>
            <a:r>
              <a:rPr lang="en-US" sz="1600" dirty="0">
                <a:solidFill>
                  <a:srgbClr val="F5F5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흰색</a:t>
            </a:r>
            <a:r>
              <a:rPr lang="en-US" sz="1600" dirty="0">
                <a:solidFill>
                  <a:srgbClr val="A1A1A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수어 데이터가 있는 단어</a:t>
            </a:r>
            <a:endParaRPr lang="en-US" sz="1600" dirty="0"/>
          </a:p>
          <a:p>
            <a:pPr marL="0" indent="0" algn="ctr">
              <a:lnSpc>
                <a:spcPts val="2320"/>
              </a:lnSpc>
              <a:buNone/>
            </a:pPr>
            <a:r>
              <a:rPr lang="en-US" sz="1600" dirty="0">
                <a:solidFill>
                  <a:srgbClr val="C7C7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회색</a:t>
            </a:r>
            <a:r>
              <a:rPr lang="en-US" sz="1600" dirty="0">
                <a:solidFill>
                  <a:srgbClr val="A1A1A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수어 데이터가 없는 단어</a:t>
            </a:r>
            <a:endParaRPr lang="en-US" sz="1600" dirty="0"/>
          </a:p>
        </p:txBody>
      </p:sp>
      <p:pic>
        <p:nvPicPr>
          <p:cNvPr id="21" name="Image 1" descr="안전모를 쓴 3D 아바타가 답변을 수어로 표현하는 움직이는 이미지"/>
          <p:cNvPicPr>
            <a:picLocks noChangeAspect="1"/>
          </p:cNvPicPr>
          <p:nvPr/>
        </p:nvPicPr>
        <p:blipFill>
          <a:blip r:embed="rId4"/>
          <a:srcRect l="23" r="23"/>
          <a:stretch/>
        </p:blipFill>
        <p:spPr>
          <a:xfrm>
            <a:off x="7823200" y="2286000"/>
            <a:ext cx="2857500" cy="2889250"/>
          </a:xfrm>
          <a:prstGeom prst="roundRect">
            <a:avLst>
              <a:gd name="adj" fmla="val 5333"/>
            </a:avLst>
          </a:prstGeom>
        </p:spPr>
      </p:pic>
      <p:pic>
        <p:nvPicPr>
          <p:cNvPr id="22" name="Image 2" descr="화살표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264400" y="3860800"/>
            <a:ext cx="635000" cy="152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586459" y="328235"/>
            <a:ext cx="11019081" cy="6201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8825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xmlns="" id="{6F794B83-CEDF-4483-BD8D-8D77CF8FBB0A}"/>
              </a:ext>
            </a:extLst>
          </p:cNvPr>
          <p:cNvSpPr>
            <a:spLocks noGrp="1"/>
          </p:cNvSpPr>
          <p:nvPr/>
        </p:nvSpPr>
        <p:spPr>
          <a:xfrm>
            <a:off x="812768" y="812768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200" b="1">
                <a:solidFill>
                  <a:srgbClr val="FFFFFF"/>
                </a:solidFill>
              </a:defRPr>
            </a:defPPr>
          </a:lstStyle>
          <a:p>
            <a:pPr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산업안전 안내를 위한 자료 출처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xmlns="" id="{5533C4C0-CCA6-45E9-B8D2-014EDFA197A3}"/>
              </a:ext>
            </a:extLst>
          </p:cNvPr>
          <p:cNvGraphicFramePr/>
          <p:nvPr/>
        </p:nvGraphicFramePr>
        <p:xfrm>
          <a:off x="812768" y="1952625"/>
          <a:ext cx="10566463" cy="3762375"/>
        </p:xfrm>
        <a:graphic>
          <a:graphicData uri="http://schemas.openxmlformats.org/drawingml/2006/table">
            <a:tbl>
              <a:tblPr/>
              <a:tblGrid>
                <a:gridCol w="2476500"/>
                <a:gridCol w="3952875"/>
                <a:gridCol w="4137088"/>
              </a:tblGrid>
              <a:tr h="485775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자료</a:t>
                      </a:r>
                      <a:r>
                        <a:rPr sz="1725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출처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참고·확보한 자료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활용 목적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안전보건공단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KOSHA GUIDE 및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안전작업 자료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산업안전 안내 문장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선정 근거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AI Hub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수어 영상 및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재난 안전 수어 데이터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대응 글로스·키포인트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검색 및 연결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국립국어원</a:t>
                      </a:r>
                    </a:p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한국수어사전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단어별 수어 설명·영상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산업안전 관련 단어의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의미와 수어 표현 확인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8191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국립국어원</a:t>
                      </a:r>
                    </a:p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말뭉치</a:t>
                      </a:r>
                    </a:p>
                  </a:txBody>
                  <a:tcPr marL="152400" marR="114300" marT="95250" marB="95250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한국수어–한국어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병렬 말뭉치 2025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안전 관련 표현이 포함된</a:t>
                      </a:r>
                    </a:p>
                    <a:p>
                      <a:r>
                        <a:rPr sz="1725">
                          <a:solidFill>
                            <a:srgbClr val="E5E5EA"/>
                          </a:solidFill>
                        </a:rPr>
                        <a:t>대화 영상·번역 자료 선별</a:t>
                      </a:r>
                    </a:p>
                  </a:txBody>
                  <a:tcPr marL="152400" marR="114300" marT="95250" marB="95250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83865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529209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900" b="1">
                <a:solidFill>
                  <a:srgbClr val="FFFFFF"/>
                </a:solidFill>
              </a:defRPr>
            </a:defPPr>
          </a:lstStyle>
          <a:p>
            <a:pPr>
              <a:defRPr sz="3900" b="1">
                <a:solidFill>
                  <a:srgbClr val="FFFFFF"/>
                </a:solidFill>
              </a:defRPr>
            </a:pPr>
            <a:r>
              <a:rPr sz="3900" b="1" dirty="0" err="1">
                <a:solidFill>
                  <a:srgbClr val="FFFFFF"/>
                </a:solidFill>
              </a:rPr>
              <a:t>산업안전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안내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문장과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데이터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연결</a:t>
            </a:r>
            <a:endParaRPr sz="3900" b="1" dirty="0">
              <a:solidFill>
                <a:srgbClr val="FFFFFF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xmlns="" id="{0FF50EFC-D31D-4E25-9CDD-789C3788C7AD}"/>
              </a:ext>
            </a:extLst>
          </p:cNvPr>
          <p:cNvGraphicFramePr/>
          <p:nvPr/>
        </p:nvGraphicFramePr>
        <p:xfrm>
          <a:off x="812768" y="1857375"/>
          <a:ext cx="10566463" cy="3726180"/>
        </p:xfrm>
        <a:graphic>
          <a:graphicData uri="http://schemas.openxmlformats.org/drawingml/2006/table">
            <a:tbl>
              <a:tblPr/>
              <a:tblGrid>
                <a:gridCol w="4286250"/>
                <a:gridCol w="3238500"/>
                <a:gridCol w="3041713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선정</a:t>
                      </a:r>
                      <a:r>
                        <a:rPr sz="1725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문장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확보한 대응 표현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추가 확보·검수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작업할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때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안전모를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착용하세요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일하다, 때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안전모·착용 / 좌표 형식 통일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감전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위험이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있으면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보호구를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착용하세요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감전, 위험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보호구·착용 / 조건 표현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보호구에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이상이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없는지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확인하세요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이상하다, 없다, 확인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보호구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위험한 곳에서는</a:t>
                      </a:r>
                    </a:p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작업을 중지하세요.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위험, 장소, 일하다, 멈추다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문장 연결·의미 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낙하물을 조심하세요.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낙하물, 조심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문장 연결·의미 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xmlns="" id="{0FF50EFC-D31D-4E25-9CDD-789C3788C7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12717780"/>
              </p:ext>
            </p:extLst>
          </p:nvPr>
        </p:nvGraphicFramePr>
        <p:xfrm>
          <a:off x="819055" y="1528191"/>
          <a:ext cx="10566463" cy="4635246"/>
        </p:xfrm>
        <a:graphic>
          <a:graphicData uri="http://schemas.openxmlformats.org/drawingml/2006/table">
            <a:tbl>
              <a:tblPr/>
              <a:tblGrid>
                <a:gridCol w="4286250"/>
                <a:gridCol w="3238500"/>
                <a:gridCol w="3041713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 dirty="0" err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선정</a:t>
                      </a:r>
                      <a:r>
                        <a:rPr sz="1725" b="1" dirty="0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 </a:t>
                      </a:r>
                      <a:r>
                        <a:rPr sz="1725" b="1" dirty="0" err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문장</a:t>
                      </a:r>
                      <a:endParaRPr sz="1725" b="1" dirty="0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확보한 대응 표현</a:t>
                      </a:r>
                      <a:endParaRPr sz="1725" b="1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 smtClean="0">
                          <a:solidFill>
                            <a:srgbClr val="FFFFFF"/>
                          </a:solidFill>
                          <a:latin typeface="Noto Sans KR (본문)"/>
                        </a:rPr>
                        <a:t>추가 확보·검수</a:t>
                      </a:r>
                      <a:endParaRPr sz="1725" b="1">
                        <a:solidFill>
                          <a:srgbClr val="FFFFFF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보호구를 깨끗하게 관리하세요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깨끗하다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사용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장비 추가 확보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/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 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사용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과 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관리</a:t>
                      </a:r>
                      <a:r>
                        <a:rPr lang="en-US" altLang="ko-KR" sz="1580" b="1" baseline="0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baseline="0" dirty="0" smtClean="0">
                          <a:latin typeface="Noto Sans KR (본문)"/>
                        </a:rPr>
                        <a:t>의 의미 차이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물체가 튈 수 있는 작업에서는 보안경을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용품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흩어지다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일하다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때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보안경 표현 추가 확보 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/ 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물체가 튀는 상황과 착용 의미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쓰러지는 물체에 발을 다칠 위험이 있으면 안전화를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쓰러지다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용품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발가락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상처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조심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운동화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운동화</a:t>
                      </a:r>
                      <a:r>
                        <a:rPr lang="en-US" altLang="ko-KR" sz="1580" b="1" smtClean="0">
                          <a:latin typeface="Noto Sans KR (본문)"/>
                        </a:rPr>
                        <a:t>·</a:t>
                      </a:r>
                      <a:r>
                        <a:rPr lang="ko-KR" altLang="en-US" sz="1580" b="1" smtClean="0">
                          <a:latin typeface="Noto Sans KR (본문)"/>
                        </a:rPr>
                        <a:t>안전화의 의미 차이 및 조건 표현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소음이 큰 작업장에서는 귀마개를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큰소리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일터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귀마개 표현 추가 확보 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/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소음 상황과 착용 의미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smtClean="0">
                          <a:latin typeface="Noto Sans KR (본문)"/>
                        </a:rPr>
                        <a:t>높은 곳에서 작업할 때는 안전대를 사용하세요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상부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일터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일하다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때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벨트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쓰다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상부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·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높은 곳의 의미 차이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/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 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+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벨트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가 </a:t>
                      </a:r>
                      <a:r>
                        <a:rPr lang="ko-KR" altLang="en-US" sz="1580" b="1" dirty="0" err="1" smtClean="0">
                          <a:latin typeface="Noto Sans KR (본문)"/>
                        </a:rPr>
                        <a:t>안전대를</a:t>
                      </a:r>
                      <a:r>
                        <a:rPr lang="ko-KR" altLang="en-US" sz="1580" b="1" dirty="0" smtClean="0">
                          <a:latin typeface="Noto Sans KR (본문)"/>
                        </a:rPr>
                        <a:t> 전달하는지 검수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latin typeface="Noto Sans KR (본문)"/>
                        </a:rPr>
                        <a:t>유해한 분진이 발생하는 작업에서는 호흡용 보호구를 착용하세요</a:t>
                      </a:r>
                      <a:r>
                        <a:rPr lang="en-US" altLang="ko-KR" sz="1580" b="1" dirty="0" smtClean="0">
                          <a:latin typeface="Noto Sans KR (본문)"/>
                        </a:rPr>
                        <a:t>.</a:t>
                      </a:r>
                      <a:endParaRPr lang="ko-KR" altLang="en-US" sz="1580" b="1" dirty="0"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해하다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흙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일어나다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때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보호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마스크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쓰다</a:t>
                      </a:r>
                      <a:endParaRPr sz="1580" b="1" dirty="0">
                        <a:solidFill>
                          <a:srgbClr val="E5E5EA"/>
                        </a:solidFill>
                        <a:latin typeface="Noto Sans KR (본문)"/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흙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·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분진의 의미 차이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, 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발생 의미의 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일어나다</a:t>
                      </a:r>
                      <a:r>
                        <a:rPr lang="en-US" altLang="ko-KR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'</a:t>
                      </a:r>
                      <a:r>
                        <a:rPr lang="ko-KR" altLang="en-US" sz="1580" b="1" dirty="0" smtClean="0">
                          <a:solidFill>
                            <a:srgbClr val="E5E5EA"/>
                          </a:solidFill>
                          <a:latin typeface="Noto Sans KR (본문)"/>
                        </a:rPr>
                        <a:t>표현 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812414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xmlns="" id="{C5961070-66A9-4AE3-88B9-401710DF7E41}"/>
              </a:ext>
            </a:extLst>
          </p:cNvPr>
          <p:cNvSpPr>
            <a:spLocks noGrp="1"/>
          </p:cNvSpPr>
          <p:nvPr/>
        </p:nvSpPr>
        <p:spPr>
          <a:xfrm>
            <a:off x="812768" y="529209"/>
            <a:ext cx="10572750" cy="7429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900" b="1">
                <a:solidFill>
                  <a:srgbClr val="FFFFFF"/>
                </a:solidFill>
              </a:defRPr>
            </a:defPPr>
          </a:lstStyle>
          <a:p>
            <a:pPr>
              <a:defRPr sz="3900" b="1">
                <a:solidFill>
                  <a:srgbClr val="FFFFFF"/>
                </a:solidFill>
              </a:defRPr>
            </a:pPr>
            <a:r>
              <a:rPr sz="3900" b="1" dirty="0" err="1">
                <a:solidFill>
                  <a:srgbClr val="FFFFFF"/>
                </a:solidFill>
              </a:rPr>
              <a:t>산업안전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안내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문장과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데이터</a:t>
            </a:r>
            <a:r>
              <a:rPr sz="3900" b="1" dirty="0">
                <a:solidFill>
                  <a:srgbClr val="FFFFFF"/>
                </a:solidFill>
              </a:rPr>
              <a:t> </a:t>
            </a:r>
            <a:r>
              <a:rPr sz="3900" b="1" dirty="0" err="1">
                <a:solidFill>
                  <a:srgbClr val="FFFFFF"/>
                </a:solidFill>
              </a:rPr>
              <a:t>연결</a:t>
            </a:r>
            <a:endParaRPr sz="3900" b="1" dirty="0">
              <a:solidFill>
                <a:srgbClr val="FFFFFF"/>
              </a:solidFill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xmlns="" id="{0FF50EFC-D31D-4E25-9CDD-789C3788C7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67182253"/>
              </p:ext>
            </p:extLst>
          </p:nvPr>
        </p:nvGraphicFramePr>
        <p:xfrm>
          <a:off x="812768" y="1473327"/>
          <a:ext cx="10566463" cy="3726180"/>
        </p:xfrm>
        <a:graphic>
          <a:graphicData uri="http://schemas.openxmlformats.org/drawingml/2006/table">
            <a:tbl>
              <a:tblPr/>
              <a:tblGrid>
                <a:gridCol w="4286250"/>
                <a:gridCol w="3238500"/>
                <a:gridCol w="3041713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선정</a:t>
                      </a:r>
                      <a:r>
                        <a:rPr sz="1725" b="1" dirty="0">
                          <a:solidFill>
                            <a:srgbClr val="FFFFFF"/>
                          </a:solidFill>
                        </a:rPr>
                        <a:t> </a:t>
                      </a:r>
                      <a:r>
                        <a:rPr sz="1725" b="1" dirty="0" err="1">
                          <a:solidFill>
                            <a:srgbClr val="FFFFFF"/>
                          </a:solidFill>
                        </a:rPr>
                        <a:t>문장</a:t>
                      </a:r>
                      <a:endParaRPr sz="1725" b="1" dirty="0">
                        <a:solidFill>
                          <a:srgbClr val="FFFFFF"/>
                        </a:solidFill>
                      </a:endParaRP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확보한 대응 표현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추가 확보·검수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>
                      <a:solidFill>
                        <a:srgbClr val="404044"/>
                      </a:solidFill>
                      <a:prstDash val="soli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242426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작업할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때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안전모를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착용하세요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일하다, 때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안전모·착용 / 좌표 형식 통일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감전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위험이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있으면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보호구를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착용하세요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감전, 위험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보호구·착용 / 조건 표현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보호구에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이상이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없는지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확인하세요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이상하다, 없다, 확인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보호구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위험한 곳에서는</a:t>
                      </a:r>
                    </a:p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작업을 중지하세요.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위험, 장소, 일하다, 멈추다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문장 연결·의미 검수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647700"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낙하물을 조심하세요.</a:t>
                      </a:r>
                    </a:p>
                  </a:txBody>
                  <a:tcPr marL="142875" marR="95250" marT="85725" marB="85725" anchor="ctr">
                    <a:lnL w="6668">
                      <a:solidFill>
                        <a:srgbClr val="404044"/>
                      </a:solidFill>
                      <a:prstDash val="soli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E5E5EA"/>
                          </a:solidFill>
                        </a:rPr>
                        <a:t>낙하물, 조심</a:t>
                      </a: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문장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연결·의미</a:t>
                      </a:r>
                      <a:r>
                        <a:rPr sz="1575" dirty="0">
                          <a:solidFill>
                            <a:srgbClr val="E5E5EA"/>
                          </a:solidFill>
                        </a:rPr>
                        <a:t> </a:t>
                      </a:r>
                      <a:r>
                        <a:rPr sz="1575" dirty="0" err="1">
                          <a:solidFill>
                            <a:srgbClr val="E5E5EA"/>
                          </a:solidFill>
                        </a:rPr>
                        <a:t>검수</a:t>
                      </a:r>
                      <a:endParaRPr sz="1575" dirty="0">
                        <a:solidFill>
                          <a:srgbClr val="E5E5EA"/>
                        </a:solidFill>
                      </a:endParaRPr>
                    </a:p>
                  </a:txBody>
                  <a:tcPr marL="142875" marR="95250" marT="85725" marB="85725" anchor="ctr">
                    <a:lnL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668">
                      <a:solidFill>
                        <a:srgbClr val="404044"/>
                      </a:solidFill>
                      <a:prstDash val="solid"/>
                    </a:lnR>
                    <a:lnT w="6668" cap="flat" cmpd="sng" algn="ctr">
                      <a:solidFill>
                        <a:srgbClr val="40404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668">
                      <a:solidFill>
                        <a:srgbClr val="404044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3" name="직사각형 2">
            <a:extLst>
              <a:ext uri="{FF2B5EF4-FFF2-40B4-BE49-F238E27FC236}">
                <a16:creationId xmlns:a16="http://schemas.microsoft.com/office/drawing/2014/main" xmlns="" id="{363F19A0-F91D-4616-A42B-42601EFAF285}"/>
              </a:ext>
            </a:extLst>
          </p:cNvPr>
          <p:cNvSpPr>
            <a:spLocks noGrp="1"/>
          </p:cNvSpPr>
          <p:nvPr/>
        </p:nvSpPr>
        <p:spPr>
          <a:xfrm>
            <a:off x="806481" y="5508117"/>
            <a:ext cx="1057275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E5E5EA"/>
                </a:solidFill>
              </a:defRPr>
            </a:defPPr>
          </a:lstStyle>
          <a:p>
            <a:pPr>
              <a:defRPr sz="1575" b="0">
                <a:solidFill>
                  <a:srgbClr val="E5E5EA"/>
                </a:solidFill>
              </a:defRPr>
            </a:pPr>
            <a:r>
              <a:rPr sz="1575" b="0">
                <a:solidFill>
                  <a:srgbClr val="E5E5EA"/>
                </a:solidFill>
              </a:rPr>
              <a:t>구현팀 전달  문장별 키포인트 폴더 + 동작 순서·파일 경로를 담은 sentence.json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xmlns="" id="{B99275F7-AB87-452B-A481-08D51A8EF21E}"/>
              </a:ext>
            </a:extLst>
          </p:cNvPr>
          <p:cNvSpPr>
            <a:spLocks noGrp="1"/>
          </p:cNvSpPr>
          <p:nvPr/>
        </p:nvSpPr>
        <p:spPr>
          <a:xfrm>
            <a:off x="806481" y="5889117"/>
            <a:ext cx="105727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A1A1A6"/>
                </a:solidFill>
              </a:defRPr>
            </a:defPPr>
          </a:lstStyle>
          <a:p>
            <a:pPr>
              <a:defRPr sz="1350" b="0">
                <a:solidFill>
                  <a:srgbClr val="A1A1A6"/>
                </a:solidFill>
              </a:defRPr>
            </a:pPr>
            <a:r>
              <a:rPr sz="1350" b="0">
                <a:solidFill>
                  <a:srgbClr val="A1A1A6"/>
                </a:solidFill>
              </a:rPr>
              <a:t>확보한 표현 기준의 구현 테스트 자료이며, 완성된 수어 번역은 아님.</a:t>
            </a:r>
          </a:p>
        </p:txBody>
      </p:sp>
    </p:spTree>
    <p:extLst>
      <p:ext uri="{BB962C8B-B14F-4D97-AF65-F5344CB8AC3E}">
        <p14:creationId xmlns:p14="http://schemas.microsoft.com/office/powerpoint/2010/main" val="2815172414"/>
      </p:ext>
    </p:extLst>
  </p:cSld>
  <p:clrMapOvr>
    <a:masterClrMapping/>
  </p:clrMapOvr>
</p:sld>
</file>

<file path=ppt/theme/theme1.xml><?xml version="1.0" encoding="utf-8"?>
<a:theme xmlns:a="http://schemas.openxmlformats.org/drawingml/2006/main" name="이음 중간 발표">
  <a:themeElements>
    <a:clrScheme name="이음 중간 발표">
      <a:dk1>
        <a:srgbClr val="000000"/>
      </a:dk1>
      <a:lt1>
        <a:srgbClr val="F5F5F7"/>
      </a:lt1>
      <a:dk2>
        <a:srgbClr val="191919"/>
      </a:dk2>
      <a:lt2>
        <a:srgbClr val="B8B8B9"/>
      </a:lt2>
      <a:accent1>
        <a:srgbClr val="1D1D1F"/>
      </a:accent1>
      <a:accent2>
        <a:srgbClr val="C7C7CC"/>
      </a:accent2>
      <a:accent3>
        <a:srgbClr val="86868B"/>
      </a:accent3>
      <a:accent4>
        <a:srgbClr val="6E6E73"/>
      </a:accent4>
      <a:accent5>
        <a:srgbClr val="A1A1A6"/>
      </a:accent5>
      <a:accent6>
        <a:srgbClr val="9AA0A6"/>
      </a:accent6>
      <a:hlink>
        <a:srgbClr val="0563C1"/>
      </a:hlink>
      <a:folHlink>
        <a:srgbClr val="954F72"/>
      </a:folHlink>
    </a:clrScheme>
    <a:fontScheme name="이음 중간 발표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이음 중간 발표">
  <a:themeElements>
    <a:clrScheme name="이음 중간 발표">
      <a:dk1>
        <a:srgbClr val="000000"/>
      </a:dk1>
      <a:lt1>
        <a:srgbClr val="F5F5F7"/>
      </a:lt1>
      <a:dk2>
        <a:srgbClr val="191919"/>
      </a:dk2>
      <a:lt2>
        <a:srgbClr val="B8B8B9"/>
      </a:lt2>
      <a:accent1>
        <a:srgbClr val="1D1D1F"/>
      </a:accent1>
      <a:accent2>
        <a:srgbClr val="C7C7CC"/>
      </a:accent2>
      <a:accent3>
        <a:srgbClr val="86868B"/>
      </a:accent3>
      <a:accent4>
        <a:srgbClr val="6E6E73"/>
      </a:accent4>
      <a:accent5>
        <a:srgbClr val="A1A1A6"/>
      </a:accent5>
      <a:accent6>
        <a:srgbClr val="9AA0A6"/>
      </a:accent6>
      <a:hlink>
        <a:srgbClr val="0563C1"/>
      </a:hlink>
      <a:folHlink>
        <a:srgbClr val="954F72"/>
      </a:folHlink>
    </a:clrScheme>
    <a:fontScheme name="이음 중간 발표">
      <a:majorFont>
        <a:latin typeface="Noto Sans KR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563</Words>
  <Application>Microsoft Office PowerPoint</Application>
  <PresentationFormat>와이드스크린</PresentationFormat>
  <Paragraphs>132</Paragraphs>
  <Slides>9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4" baseType="lpstr">
      <vt:lpstr>Noto Sans KR</vt:lpstr>
      <vt:lpstr>Noto Sans KR (본문)</vt:lpstr>
      <vt:lpstr>맑은 고딕</vt:lpstr>
      <vt:lpstr>Arial</vt:lpstr>
      <vt:lpstr>이음 중간 발표</vt:lpstr>
      <vt:lpstr>이음</vt:lpstr>
      <vt:lpstr>PowerPoint 프레젠테이션</vt:lpstr>
      <vt:lpstr>먼저 규정에서 답변 근거를 수집합니다.</vt:lpstr>
      <vt:lpstr>근거 수집 정도에 따라 답변합니다.</vt:lpstr>
      <vt:lpstr>답변을 단어로, 단어를 수어로.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이음 중간 발표</dc:title>
  <cp:lastModifiedBy>이서영</cp:lastModifiedBy>
  <cp:revision>7</cp:revision>
  <dcterms:created xsi:type="dcterms:W3CDTF">2026-10-18T10:37:58Z</dcterms:created>
  <dcterms:modified xsi:type="dcterms:W3CDTF">2026-10-19T12:56:23Z</dcterms:modified>
  <cp:version/>
</cp:coreProperties>
</file>